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121a0e49394d2c" /><Relationship Type="http://schemas.openxmlformats.org/officeDocument/2006/relationships/extended-properties" Target="/docProps/app.xml" Id="R09f772d9bea0460c" /><Relationship Type="http://schemas.openxmlformats.org/officeDocument/2006/relationships/officeDocument" Target="/ppt/presentation.xml" Id="Ra2fd9217c93b469f" /></Relationships>
</file>

<file path=ppt/presentation.xml><?xml version="1.0" encoding="utf-8"?>
<p:presentation xmlns:p="http://schemas.openxmlformats.org/presentationml/2006/main">
  <p:sldMasterIdLst>
    <p:sldMasterId xmlns:r="http://schemas.openxmlformats.org/officeDocument/2006/relationships" id="2147483648" r:id="R1113c93bce6b4621"/>
  </p:sldMasterIdLst>
  <p:notesMasterIdLst>
    <p:notesMasterId xmlns:r="http://schemas.openxmlformats.org/officeDocument/2006/relationships" r:id="R1f1928533a514af5"/>
  </p:notesMasterIdLst>
  <p:sldIdLst>
    <p:sldId xmlns:r="http://schemas.openxmlformats.org/officeDocument/2006/relationships" id="256" r:id="Rf68ec4e2cef8420e"/>
    <p:sldId xmlns:r="http://schemas.openxmlformats.org/officeDocument/2006/relationships" id="257" r:id="R653c96d410774757"/>
    <p:sldId xmlns:r="http://schemas.openxmlformats.org/officeDocument/2006/relationships" id="258" r:id="R2815b6a90eaf4047"/>
    <p:sldId xmlns:r="http://schemas.openxmlformats.org/officeDocument/2006/relationships" id="259" r:id="R2ddd33ddeaee4aa7"/>
    <p:sldId xmlns:r="http://schemas.openxmlformats.org/officeDocument/2006/relationships" id="260" r:id="R9c2cdd1c834847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8f45d1b2ea458a" /><Relationship Type="http://schemas.openxmlformats.org/officeDocument/2006/relationships/slideMaster" Target="/ppt/slideMasters/slideMaster1.xml" Id="R1113c93bce6b4621" /><Relationship Type="http://schemas.openxmlformats.org/officeDocument/2006/relationships/notesMaster" Target="/ppt/notesMasters/notesMaster1.xml" Id="R1f1928533a514af5" /><Relationship Type="http://schemas.openxmlformats.org/officeDocument/2006/relationships/presProps" Target="/ppt/presProps.xml" Id="Rd78d5bf5b5a14768" /><Relationship Type="http://schemas.openxmlformats.org/officeDocument/2006/relationships/tableStyles" Target="/ppt/tableStyles.xml" Id="Rc861fabd7f074485" /><Relationship Type="http://schemas.openxmlformats.org/officeDocument/2006/relationships/slide" Target="/ppt/slides/slide1.xml" Id="Rf68ec4e2cef8420e" /><Relationship Type="http://schemas.openxmlformats.org/officeDocument/2006/relationships/slide" Target="/ppt/slides/slide2.xml" Id="R653c96d410774757" /><Relationship Type="http://schemas.openxmlformats.org/officeDocument/2006/relationships/slide" Target="/ppt/slides/slide3.xml" Id="R2815b6a90eaf4047" /><Relationship Type="http://schemas.openxmlformats.org/officeDocument/2006/relationships/slide" Target="/ppt/slides/slide4.xml" Id="R2ddd33ddeaee4aa7" /><Relationship Type="http://schemas.openxmlformats.org/officeDocument/2006/relationships/slide" Target="/ppt/slides/slide5.xml" Id="R9c2cdd1c834847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f0a521f6b84d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aec1f35e634909" /><Relationship Type="http://schemas.openxmlformats.org/officeDocument/2006/relationships/notesMaster" Target="/ppt/notesMasters/notesMaster1.xml" Id="R16066c5ace3f4a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243048078e4562" /><Relationship Type="http://schemas.openxmlformats.org/officeDocument/2006/relationships/notesMaster" Target="/ppt/notesMasters/notesMaster1.xml" Id="R588dcd751a804b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7e65c7193b4fc1" /><Relationship Type="http://schemas.openxmlformats.org/officeDocument/2006/relationships/notesMaster" Target="/ppt/notesMasters/notesMaster1.xml" Id="Rf185e941041c43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010dbbe46048ef" /><Relationship Type="http://schemas.openxmlformats.org/officeDocument/2006/relationships/notesMaster" Target="/ppt/notesMasters/notesMaster1.xml" Id="R6f7be002921843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912b215d6549fd" /><Relationship Type="http://schemas.openxmlformats.org/officeDocument/2006/relationships/notesMaster" Target="/ppt/notesMasters/notesMaster1.xml" Id="R3dbffb04969240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We are Team PRISM from RL Group 1. Our project asks a narrow optimization question: when a sparse terminal reward gives us a noisy step-level credit estimate, can its reliability control how far Online Mirror Descent moves? Huang coordinates the project, Liu leads theory, Xie builds environments and estimators, Zhong develops algorithms and infrastructure, and Li leads experiments and analysis. Today I will show one preregistered positive result, followed by a deliberately retained negative transfer result.</a:t>
            </a:r>
          </a:p>
          <a:p xmlns:a="http://schemas.openxmlformats.org/drawingml/2006/main">
            <a:r>
              <a:t/>
            </a:r>
          </a:p>
          <a:p xmlns:a="http://schemas.openxmlformats.org/drawingml/2006/main">
            <a:r>
              <a:t>[Sources]</a:t>
            </a:r>
          </a:p>
          <a:p xmlns:a="http://schemas.openxmlformats.org/drawingml/2006/main">
            <a:r>
              <a:t>- E:/RC-OMD/outputs/Team_PRISM_Project_Proposal.tex</a:t>
            </a:r>
          </a:p>
          <a:p xmlns:a="http://schemas.openxmlformats.org/drawingml/2006/main">
            <a:r>
              <a:t>- E:/RC-OMD/paper/main.tex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setting is sparse verifiable reward. A complete trajectory receives one binary score. Group-relative methods form an advantage by subtracting the group mean, which avoids a learned critic. But that one trajectory-level advantage is then broadcast through the whole sequence. This creates an allocation problem: routine and pivotal decisions can move together, and all-correct or all-wrong groups can contain no relative signal. Our project does not claim to discover causal responsibility. It studies whether an online reliability signal can control the geometry of the update under this limited feedback.</a:t>
            </a:r>
          </a:p>
          <a:p xmlns:a="http://schemas.openxmlformats.org/drawingml/2006/main">
            <a:r>
              <a:t/>
            </a:r>
          </a:p>
          <a:p xmlns:a="http://schemas.openxmlformats.org/drawingml/2006/main">
            <a:r>
              <a:t>[Sources]</a:t>
            </a:r>
          </a:p>
          <a:p xmlns:a="http://schemas.openxmlformats.org/drawingml/2006/main">
            <a:r>
              <a:t>- https://arxiv.org/abs/2402.03300</a:t>
            </a:r>
          </a:p>
          <a:p xmlns:a="http://schemas.openxmlformats.org/drawingml/2006/main">
            <a:r>
              <a:t>- https://arxiv.org/abs/2604.11056</a:t>
            </a:r>
          </a:p>
          <a:p xmlns:a="http://schemas.openxmlformats.org/drawingml/2006/main">
            <a:r>
              <a:t>- https://arxiv.org/abs/2604.09459</a:t>
            </a:r>
          </a:p>
          <a:p xmlns:a="http://schemas.openxmlformats.org/drawingml/2006/main">
            <a:r>
              <a:t>- E:/RC-OMD/paper/main.tex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RC-OMD separates two questions. The estimated credit chooses where the policy should move. A reliability score chooses how far that local decision is allowed to move through a step-specific learning rate, or equivalently a local KL budget. In our online variant, reliability is a persistent standardized score updated from grouped rollouts. The controlled environments know which positions are pivotal or distracting, but those labels are used only for evaluation. The algorithm receives the terminal reward and its online reliability statistics. Therefore our positive claim is about movement allocation in a tabular factorized policy, not causal credit recovery.</a:t>
            </a:r>
          </a:p>
          <a:p xmlns:a="http://schemas.openxmlformats.org/drawingml/2006/main">
            <a:r>
              <a:t/>
            </a:r>
          </a:p>
          <a:p xmlns:a="http://schemas.openxmlformats.org/drawingml/2006/main">
            <a:r>
              <a:t>[Sources]</a:t>
            </a:r>
          </a:p>
          <a:p xmlns:a="http://schemas.openxmlformats.org/drawingml/2006/main">
            <a:r>
              <a:t>- https://arxiv.org/abs/2005.09814</a:t>
            </a:r>
          </a:p>
          <a:p xmlns:a="http://schemas.openxmlformats.org/drawingml/2006/main">
            <a:r>
              <a:t>- E:/RC-OMD/algorithms</a:t>
            </a:r>
          </a:p>
          <a:p xmlns:a="http://schemas.openxmlformats.org/drawingml/2006/main">
            <a:r>
              <a:t>- E:/RC-OMD/credit_estimators</a:t>
            </a:r>
          </a:p>
          <a:p xmlns:a="http://schemas.openxmlformats.org/drawingml/2006/main">
            <a:r>
              <a:t>- E:/RC-OMD/paper/main.tex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running the OOD study, we froze the tasks, hyperparameters and pass rule. Online RC-OMD had to lose no more than 0.01 normalized success AUC, use at most half the distractor KL of Uniform, and pass at least three of four scenarios. It passed all four. The absolute AUC differences were at most 0.0018, while distractor KL fell to 18.9 to 24.8 percent of Uniform. Runtime overhead was 6.9 to 10.7 percent. This is a Pareto result with different preregistered base steps, not a claim that reliability scaling always improves reward at the same nominal step size.</a:t>
            </a:r>
          </a:p>
          <a:p xmlns:a="http://schemas.openxmlformats.org/drawingml/2006/main">
            <a:r>
              <a:t/>
            </a:r>
          </a:p>
          <a:p xmlns:a="http://schemas.openxmlformats.org/drawingml/2006/main">
            <a:r>
              <a:t>[Sources]</a:t>
            </a:r>
          </a:p>
          <a:p xmlns:a="http://schemas.openxmlformats.org/drawingml/2006/main">
            <a:r>
              <a:t>- E:/RC-OMD/docs/MILESTONE_5_OOD_RESULTS.md</a:t>
            </a:r>
          </a:p>
          <a:p xmlns:a="http://schemas.openxmlformats.org/drawingml/2006/main">
            <a:r>
              <a:t>- E:/RC-OMD/results/ood_preregistered/protocol_evaluation.json</a:t>
            </a:r>
          </a:p>
          <a:p xmlns:a="http://schemas.openxmlformats.org/drawingml/2006/main">
            <a:r>
              <a:t>- E:/RC-OMD/configs/ood_preregistered.json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first shared-parameter transfer is a NO-GO. With separable linear features, the distractor-KL ratio was 0.193 and the scenario passed. Under partial aliasing it rose to 0.967, and under complete aliasing to 1.176. All three AUC conditions still passed; the failure came entirely from the frozen KL criterion. Diagnostics show that reliability still separates pivotal from distractor positions, but projection couples their parameter updates. Therefore local step-size control is insufficient when the policy cannot realize independent local trust regions. We do not claim neural or LLM effectiveness. We would value guidance on parameter-space geometry, constrained projection, and the next nonlinear benchmark.</a:t>
            </a:r>
          </a:p>
          <a:p xmlns:a="http://schemas.openxmlformats.org/drawingml/2006/main">
            <a:r>
              <a:t/>
            </a:r>
          </a:p>
          <a:p xmlns:a="http://schemas.openxmlformats.org/drawingml/2006/main">
            <a:r>
              <a:t>[Sources]</a:t>
            </a:r>
          </a:p>
          <a:p xmlns:a="http://schemas.openxmlformats.org/drawingml/2006/main">
            <a:r>
              <a:t>- E:/RC-OMD/docs/MILESTONE_6_FUNCTION_APPROX_RESULTS.md</a:t>
            </a:r>
          </a:p>
          <a:p xmlns:a="http://schemas.openxmlformats.org/drawingml/2006/main">
            <a:r>
              <a:t>- E:/RC-OMD/results/function_approx_preregistered/protocol_evaluation.json</a:t>
            </a:r>
          </a:p>
          <a:p xmlns:a="http://schemas.openxmlformats.org/drawingml/2006/main">
            <a:r>
              <a:t>- E:/RC-OMD/configs/function_approx_preregistered.json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7cc067cc2441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724b50fce148c9" /><Relationship Type="http://schemas.openxmlformats.org/officeDocument/2006/relationships/slideLayout" Target="/ppt/slideLayouts/slideLayout1.xml" Id="R1590bc41102642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90bc41102642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d7dbb986b14c95" /><Relationship Type="http://schemas.openxmlformats.org/officeDocument/2006/relationships/notesSlide" Target="/ppt/notesSlides/notesSlide1.xml" Id="Re92f8ad3544d45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2b6db5fbbb47a9" /><Relationship Type="http://schemas.openxmlformats.org/officeDocument/2006/relationships/notesSlide" Target="/ppt/notesSlides/notesSlide2.xml" Id="Rc450c96ff4504e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a13814f170427f" /><Relationship Type="http://schemas.openxmlformats.org/officeDocument/2006/relationships/notesSlide" Target="/ppt/notesSlides/notesSlide3.xml" Id="R0dfb7543fb4947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b4c65c545194cae" /><Relationship Type="http://schemas.openxmlformats.org/officeDocument/2006/relationships/notesSlide" Target="/ppt/notesSlides/notesSlide4.xml" Id="R3e7f30a588b641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b046f8654a43b8" /><Relationship Type="http://schemas.openxmlformats.org/officeDocument/2006/relationships/notesSlide" Target="/ppt/notesSlides/notesSlide5.xml" Id="R23b83ed5dc384d43" /></Relationships>
</file>

<file path=ppt/slides/slide1.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38B156F-559D-483E-BD8D-2A3F8B7941EA}"/>
              </a:ext>
            </a:extLst>
          </p:cNvPr>
          <p:cNvSpPr>
            <a:spLocks xmlns:a="http://schemas.openxmlformats.org/drawingml/2006/main" noGrp="1"/>
          </p:cNvSpPr>
          <p:nvPr/>
        </p:nvSpPr>
        <p:spPr>
          <a:xfrm xmlns:a="http://schemas.openxmlformats.org/drawingml/2006/main">
            <a:off x="590550" y="476250"/>
            <a:ext cx="3619500" cy="285750"/>
          </a:xfrm>
          <a:prstGeom xmlns:a="http://schemas.openxmlformats.org/drawingml/2006/main" prst="roundRect">
            <a:avLst>
              <a:gd name="adj" fmla="val 50000"/>
            </a:avLst>
          </a:prstGeom>
          <a:solidFill xmlns:a="http://schemas.openxmlformats.org/drawingml/2006/main">
            <a:srgbClr val="EAF0FF"/>
          </a:solidFill>
          <a:ln xmlns:a="http://schemas.openxmlformats.org/drawingml/2006/main" w="9525">
            <a:solidFill>
              <a:srgbClr val="EAF0FF"/>
            </a:solidFill>
            <a:prstDash val="solid"/>
          </a:ln>
        </p:spPr>
      </p:sp>
      <p:sp>
        <p:nvSpPr>
          <p:cNvPr id="2" name="">
            <a:extLst xmlns:a="http://schemas.openxmlformats.org/drawingml/2006/main">
              <a:ext uri="{FF2B5EF4-FFF2-40B4-BE49-F238E27FC236}">
                <a16:creationId xmlns:a16="http://schemas.microsoft.com/office/drawing/2014/main" id="{A8D00CEC-DDBF-47C3-B155-4753EE48869B}"/>
              </a:ext>
            </a:extLst>
          </p:cNvPr>
          <p:cNvSpPr>
            <a:spLocks xmlns:a="http://schemas.openxmlformats.org/drawingml/2006/main" noGrp="1"/>
          </p:cNvSpPr>
          <p:nvPr/>
        </p:nvSpPr>
        <p:spPr>
          <a:xfrm xmlns:a="http://schemas.openxmlformats.org/drawingml/2006/main">
            <a:off x="666750" y="514350"/>
            <a:ext cx="3467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2F6FED"/>
                </a:solidFill>
                <a:latin typeface="Aptos"/>
                <a:ea typeface="Aptos"/>
                <a:cs typeface="Aptos"/>
              </a:defRPr>
            </a:pPr>
            <a:r>
              <a:rPr sz="975" b="1">
                <a:solidFill>
                  <a:srgbClr val="2F6FED"/>
                </a:solidFill>
                <a:latin typeface="Aptos"/>
                <a:ea typeface="Aptos"/>
                <a:cs typeface="Aptos"/>
              </a:rPr>
              <a:t>REINFORCEMENT LEARNING &amp; ROBOTIC AUTOMATION</a:t>
            </a:r>
          </a:p>
        </p:txBody>
      </p:sp>
      <p:sp>
        <p:nvSpPr>
          <p:cNvPr id="3" name="">
            <a:extLst xmlns:a="http://schemas.openxmlformats.org/drawingml/2006/main">
              <a:ext uri="{FF2B5EF4-FFF2-40B4-BE49-F238E27FC236}">
                <a16:creationId xmlns:a16="http://schemas.microsoft.com/office/drawing/2014/main" id="{A99199D7-5299-4AF0-BE00-BB7358B1570C}"/>
              </a:ext>
            </a:extLst>
          </p:cNvPr>
          <p:cNvSpPr>
            <a:spLocks xmlns:a="http://schemas.openxmlformats.org/drawingml/2006/main" noGrp="1"/>
          </p:cNvSpPr>
          <p:nvPr/>
        </p:nvSpPr>
        <p:spPr>
          <a:xfrm xmlns:a="http://schemas.openxmlformats.org/drawingml/2006/main">
            <a:off x="590550" y="1104900"/>
            <a:ext cx="8096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050" b="1">
                <a:solidFill>
                  <a:srgbClr val="0B1020"/>
                </a:solidFill>
                <a:latin typeface="Aptos"/>
                <a:ea typeface="Aptos"/>
                <a:cs typeface="Aptos"/>
              </a:defRPr>
            </a:pPr>
            <a:r>
              <a:rPr sz="4050" b="1">
                <a:solidFill>
                  <a:srgbClr val="0B1020"/>
                </a:solidFill>
                <a:latin typeface="Aptos"/>
                <a:ea typeface="Aptos"/>
                <a:cs typeface="Aptos"/>
              </a:rPr>
              <a:t>Reliability-Calibrated</a:t>
            </a:r>
          </a:p>
          <a:p xmlns:a="http://schemas.openxmlformats.org/drawingml/2006/main">
            <a:pPr algn="l">
              <a:defRPr sz="4050" b="1">
                <a:solidFill>
                  <a:srgbClr val="0B1020"/>
                </a:solidFill>
                <a:latin typeface="Aptos"/>
                <a:ea typeface="Aptos"/>
                <a:cs typeface="Aptos"/>
              </a:defRPr>
            </a:pPr>
            <a:r>
              <a:rPr sz="4050" b="1">
                <a:solidFill>
                  <a:srgbClr val="0B1020"/>
                </a:solidFill>
                <a:latin typeface="Aptos"/>
                <a:ea typeface="Aptos"/>
                <a:cs typeface="Aptos"/>
              </a:rPr>
              <a:t>Online Mirror Descent</a:t>
            </a:r>
          </a:p>
        </p:txBody>
      </p:sp>
      <p:sp>
        <p:nvSpPr>
          <p:cNvPr id="4" name="">
            <a:extLst xmlns:a="http://schemas.openxmlformats.org/drawingml/2006/main">
              <a:ext uri="{FF2B5EF4-FFF2-40B4-BE49-F238E27FC236}">
                <a16:creationId xmlns:a16="http://schemas.microsoft.com/office/drawing/2014/main" id="{CABE9785-C8D1-42A6-8F36-8A1EBC9E2B90}"/>
              </a:ext>
            </a:extLst>
          </p:cNvPr>
          <p:cNvSpPr>
            <a:spLocks xmlns:a="http://schemas.openxmlformats.org/drawingml/2006/main" noGrp="1"/>
          </p:cNvSpPr>
          <p:nvPr/>
        </p:nvSpPr>
        <p:spPr>
          <a:xfrm xmlns:a="http://schemas.openxmlformats.org/drawingml/2006/main">
            <a:off x="628650" y="270510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a:solidFill>
                  <a:srgbClr val="5C677D"/>
                </a:solidFill>
                <a:latin typeface="Aptos"/>
                <a:ea typeface="Aptos"/>
                <a:cs typeface="Aptos"/>
              </a:defRPr>
            </a:pPr>
            <a:r>
              <a:rPr sz="1800" b="0">
                <a:solidFill>
                  <a:srgbClr val="5C677D"/>
                </a:solidFill>
                <a:latin typeface="Aptos"/>
                <a:ea typeface="Aptos"/>
                <a:cs typeface="Aptos"/>
              </a:rPr>
              <a:t>What survives sparse rewards — and what breaks under shared parameters</a:t>
            </a:r>
          </a:p>
        </p:txBody>
      </p:sp>
      <p:sp>
        <p:nvSpPr>
          <p:cNvPr id="5" name="">
            <a:extLst xmlns:a="http://schemas.openxmlformats.org/drawingml/2006/main">
              <a:ext uri="{FF2B5EF4-FFF2-40B4-BE49-F238E27FC236}">
                <a16:creationId xmlns:a16="http://schemas.microsoft.com/office/drawing/2014/main" id="{80674D17-7891-42D2-8498-4E6130096424}"/>
              </a:ext>
            </a:extLst>
          </p:cNvPr>
          <p:cNvSpPr>
            <a:spLocks xmlns:a="http://schemas.openxmlformats.org/drawingml/2006/main" noGrp="1"/>
          </p:cNvSpPr>
          <p:nvPr/>
        </p:nvSpPr>
        <p:spPr>
          <a:xfrm xmlns:a="http://schemas.openxmlformats.org/drawingml/2006/main">
            <a:off x="628650" y="33528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087F72"/>
                </a:solidFill>
                <a:latin typeface="Aptos"/>
                <a:ea typeface="Aptos"/>
                <a:cs typeface="Aptos"/>
              </a:defRPr>
            </a:pPr>
            <a:r>
              <a:rPr sz="1275" b="1">
                <a:solidFill>
                  <a:srgbClr val="087F72"/>
                </a:solidFill>
                <a:latin typeface="Aptos"/>
                <a:ea typeface="Aptos"/>
                <a:cs typeface="Aptos"/>
              </a:rPr>
              <a:t>TEAM PRISM  ·  RL-GROUP 1</a:t>
            </a:r>
          </a:p>
        </p:txBody>
      </p:sp>
      <p:sp>
        <p:nvSpPr>
          <p:cNvPr id="6" name="">
            <a:extLst xmlns:a="http://schemas.openxmlformats.org/drawingml/2006/main">
              <a:ext uri="{FF2B5EF4-FFF2-40B4-BE49-F238E27FC236}">
                <a16:creationId xmlns:a16="http://schemas.microsoft.com/office/drawing/2014/main" id="{86074074-A76A-403A-940E-7C2197CD4437}"/>
              </a:ext>
            </a:extLst>
          </p:cNvPr>
          <p:cNvSpPr>
            <a:spLocks xmlns:a="http://schemas.openxmlformats.org/drawingml/2006/main" noGrp="1"/>
          </p:cNvSpPr>
          <p:nvPr/>
        </p:nvSpPr>
        <p:spPr>
          <a:xfrm xmlns:a="http://schemas.openxmlformats.org/drawingml/2006/main">
            <a:off x="590550" y="4438650"/>
            <a:ext cx="211074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9E0EA"/>
            </a:solidFill>
            <a:prstDash val="solid"/>
          </a:ln>
        </p:spPr>
      </p:sp>
      <p:sp>
        <p:nvSpPr>
          <p:cNvPr id="7" name="">
            <a:extLst xmlns:a="http://schemas.openxmlformats.org/drawingml/2006/main">
              <a:ext uri="{FF2B5EF4-FFF2-40B4-BE49-F238E27FC236}">
                <a16:creationId xmlns:a16="http://schemas.microsoft.com/office/drawing/2014/main" id="{E6C51868-B9A0-41C0-AD5C-34126C14B3DC}"/>
              </a:ext>
            </a:extLst>
          </p:cNvPr>
          <p:cNvSpPr>
            <a:spLocks xmlns:a="http://schemas.openxmlformats.org/drawingml/2006/main" noGrp="1"/>
          </p:cNvSpPr>
          <p:nvPr/>
        </p:nvSpPr>
        <p:spPr>
          <a:xfrm xmlns:a="http://schemas.openxmlformats.org/drawingml/2006/main">
            <a:off x="590550" y="4438650"/>
            <a:ext cx="57150" cy="800100"/>
          </a:xfrm>
          <a:prstGeom xmlns:a="http://schemas.openxmlformats.org/drawingml/2006/main" prst="rect">
            <a:avLst/>
          </a:prstGeom>
          <a:solidFill xmlns:a="http://schemas.openxmlformats.org/drawingml/2006/main">
            <a:srgbClr val="2F6FED"/>
          </a:solidFill>
          <a:ln xmlns:a="http://schemas.openxmlformats.org/drawingml/2006/main" w="0">
            <a:solidFill>
              <a:srgbClr val="2F6FED"/>
            </a:solidFill>
            <a:prstDash val="solid"/>
          </a:ln>
        </p:spPr>
      </p:sp>
      <p:sp>
        <p:nvSpPr>
          <p:cNvPr id="8" name="">
            <a:extLst xmlns:a="http://schemas.openxmlformats.org/drawingml/2006/main">
              <a:ext uri="{FF2B5EF4-FFF2-40B4-BE49-F238E27FC236}">
                <a16:creationId xmlns:a16="http://schemas.microsoft.com/office/drawing/2014/main" id="{F8F81ACA-97E7-454A-9EFC-C0488B4A9AEB}"/>
              </a:ext>
            </a:extLst>
          </p:cNvPr>
          <p:cNvSpPr>
            <a:spLocks xmlns:a="http://schemas.openxmlformats.org/drawingml/2006/main" noGrp="1"/>
          </p:cNvSpPr>
          <p:nvPr/>
        </p:nvSpPr>
        <p:spPr>
          <a:xfrm xmlns:a="http://schemas.openxmlformats.org/drawingml/2006/main">
            <a:off x="762000" y="4572000"/>
            <a:ext cx="18249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6324F"/>
                </a:solidFill>
                <a:latin typeface="Aptos"/>
                <a:ea typeface="Aptos"/>
                <a:cs typeface="Aptos"/>
              </a:defRPr>
            </a:pPr>
            <a:r>
              <a:rPr sz="1125" b="1">
                <a:solidFill>
                  <a:srgbClr val="16324F"/>
                </a:solidFill>
                <a:latin typeface="Aptos"/>
                <a:ea typeface="Aptos"/>
                <a:cs typeface="Aptos"/>
              </a:rPr>
              <a:t>HUANG YUXUAN</a:t>
            </a:r>
          </a:p>
        </p:txBody>
      </p:sp>
      <p:sp>
        <p:nvSpPr>
          <p:cNvPr id="9" name="">
            <a:extLst xmlns:a="http://schemas.openxmlformats.org/drawingml/2006/main">
              <a:ext uri="{FF2B5EF4-FFF2-40B4-BE49-F238E27FC236}">
                <a16:creationId xmlns:a16="http://schemas.microsoft.com/office/drawing/2014/main" id="{2E91F0C6-BCF2-4D74-B5C8-617E88F856CF}"/>
              </a:ext>
            </a:extLst>
          </p:cNvPr>
          <p:cNvSpPr>
            <a:spLocks xmlns:a="http://schemas.openxmlformats.org/drawingml/2006/main" noGrp="1"/>
          </p:cNvSpPr>
          <p:nvPr/>
        </p:nvSpPr>
        <p:spPr>
          <a:xfrm xmlns:a="http://schemas.openxmlformats.org/drawingml/2006/main">
            <a:off x="762000" y="4857750"/>
            <a:ext cx="18249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5C677D"/>
                </a:solidFill>
                <a:latin typeface="Aptos"/>
                <a:ea typeface="Aptos"/>
                <a:cs typeface="Aptos"/>
              </a:defRPr>
            </a:pPr>
            <a:r>
              <a:rPr sz="975" b="0">
                <a:solidFill>
                  <a:srgbClr val="5C677D"/>
                </a:solidFill>
                <a:latin typeface="Aptos"/>
                <a:ea typeface="Aptos"/>
                <a:cs typeface="Aptos"/>
              </a:rPr>
              <a:t>Project lead &amp; final report</a:t>
            </a:r>
          </a:p>
        </p:txBody>
      </p:sp>
      <p:sp>
        <p:nvSpPr>
          <p:cNvPr id="10" name="">
            <a:extLst xmlns:a="http://schemas.openxmlformats.org/drawingml/2006/main">
              <a:ext uri="{FF2B5EF4-FFF2-40B4-BE49-F238E27FC236}">
                <a16:creationId xmlns:a16="http://schemas.microsoft.com/office/drawing/2014/main" id="{F775C841-3787-4040-9684-225992264101}"/>
              </a:ext>
            </a:extLst>
          </p:cNvPr>
          <p:cNvSpPr>
            <a:spLocks xmlns:a="http://schemas.openxmlformats.org/drawingml/2006/main" noGrp="1"/>
          </p:cNvSpPr>
          <p:nvPr/>
        </p:nvSpPr>
        <p:spPr>
          <a:xfrm xmlns:a="http://schemas.openxmlformats.org/drawingml/2006/main">
            <a:off x="2815590" y="4438650"/>
            <a:ext cx="211074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9E0EA"/>
            </a:solidFill>
            <a:prstDash val="solid"/>
          </a:ln>
        </p:spPr>
      </p:sp>
      <p:sp>
        <p:nvSpPr>
          <p:cNvPr id="11" name="">
            <a:extLst xmlns:a="http://schemas.openxmlformats.org/drawingml/2006/main">
              <a:ext uri="{FF2B5EF4-FFF2-40B4-BE49-F238E27FC236}">
                <a16:creationId xmlns:a16="http://schemas.microsoft.com/office/drawing/2014/main" id="{4DA4B935-0CE4-474E-998F-7D57FD058302}"/>
              </a:ext>
            </a:extLst>
          </p:cNvPr>
          <p:cNvSpPr>
            <a:spLocks xmlns:a="http://schemas.openxmlformats.org/drawingml/2006/main" noGrp="1"/>
          </p:cNvSpPr>
          <p:nvPr/>
        </p:nvSpPr>
        <p:spPr>
          <a:xfrm xmlns:a="http://schemas.openxmlformats.org/drawingml/2006/main">
            <a:off x="2815590" y="4438650"/>
            <a:ext cx="57150" cy="800100"/>
          </a:xfrm>
          <a:prstGeom xmlns:a="http://schemas.openxmlformats.org/drawingml/2006/main" prst="rect">
            <a:avLst/>
          </a:prstGeom>
          <a:solidFill xmlns:a="http://schemas.openxmlformats.org/drawingml/2006/main">
            <a:srgbClr val="20BFA9"/>
          </a:solidFill>
          <a:ln xmlns:a="http://schemas.openxmlformats.org/drawingml/2006/main" w="0">
            <a:solidFill>
              <a:srgbClr val="20BFA9"/>
            </a:solidFill>
            <a:prstDash val="solid"/>
          </a:ln>
        </p:spPr>
      </p:sp>
      <p:sp>
        <p:nvSpPr>
          <p:cNvPr id="12" name="">
            <a:extLst xmlns:a="http://schemas.openxmlformats.org/drawingml/2006/main">
              <a:ext uri="{FF2B5EF4-FFF2-40B4-BE49-F238E27FC236}">
                <a16:creationId xmlns:a16="http://schemas.microsoft.com/office/drawing/2014/main" id="{3485FC3E-93F1-47A7-9A15-458A3179C361}"/>
              </a:ext>
            </a:extLst>
          </p:cNvPr>
          <p:cNvSpPr>
            <a:spLocks xmlns:a="http://schemas.openxmlformats.org/drawingml/2006/main" noGrp="1"/>
          </p:cNvSpPr>
          <p:nvPr/>
        </p:nvSpPr>
        <p:spPr>
          <a:xfrm xmlns:a="http://schemas.openxmlformats.org/drawingml/2006/main">
            <a:off x="2987040" y="4572000"/>
            <a:ext cx="18249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6324F"/>
                </a:solidFill>
                <a:latin typeface="Aptos"/>
                <a:ea typeface="Aptos"/>
                <a:cs typeface="Aptos"/>
              </a:defRPr>
            </a:pPr>
            <a:r>
              <a:rPr sz="1125" b="1">
                <a:solidFill>
                  <a:srgbClr val="16324F"/>
                </a:solidFill>
                <a:latin typeface="Aptos"/>
                <a:ea typeface="Aptos"/>
                <a:cs typeface="Aptos"/>
              </a:rPr>
              <a:t>LIU YIPU</a:t>
            </a:r>
          </a:p>
        </p:txBody>
      </p:sp>
      <p:sp>
        <p:nvSpPr>
          <p:cNvPr id="13" name="">
            <a:extLst xmlns:a="http://schemas.openxmlformats.org/drawingml/2006/main">
              <a:ext uri="{FF2B5EF4-FFF2-40B4-BE49-F238E27FC236}">
                <a16:creationId xmlns:a16="http://schemas.microsoft.com/office/drawing/2014/main" id="{07E34667-DE5C-409D-B97E-B818EECE4BBD}"/>
              </a:ext>
            </a:extLst>
          </p:cNvPr>
          <p:cNvSpPr>
            <a:spLocks xmlns:a="http://schemas.openxmlformats.org/drawingml/2006/main" noGrp="1"/>
          </p:cNvSpPr>
          <p:nvPr/>
        </p:nvSpPr>
        <p:spPr>
          <a:xfrm xmlns:a="http://schemas.openxmlformats.org/drawingml/2006/main">
            <a:off x="2987040" y="4857750"/>
            <a:ext cx="18249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5C677D"/>
                </a:solidFill>
                <a:latin typeface="Aptos"/>
                <a:ea typeface="Aptos"/>
                <a:cs typeface="Aptos"/>
              </a:defRPr>
            </a:pPr>
            <a:r>
              <a:rPr sz="975" b="0">
                <a:solidFill>
                  <a:srgbClr val="5C677D"/>
                </a:solidFill>
                <a:latin typeface="Aptos"/>
                <a:ea typeface="Aptos"/>
                <a:cs typeface="Aptos"/>
              </a:rPr>
              <a:t>Theory</a:t>
            </a:r>
          </a:p>
        </p:txBody>
      </p:sp>
      <p:sp>
        <p:nvSpPr>
          <p:cNvPr id="14" name="">
            <a:extLst xmlns:a="http://schemas.openxmlformats.org/drawingml/2006/main">
              <a:ext uri="{FF2B5EF4-FFF2-40B4-BE49-F238E27FC236}">
                <a16:creationId xmlns:a16="http://schemas.microsoft.com/office/drawing/2014/main" id="{3CA5691C-9446-4CC0-858C-4EF2BFAB64A0}"/>
              </a:ext>
            </a:extLst>
          </p:cNvPr>
          <p:cNvSpPr>
            <a:spLocks xmlns:a="http://schemas.openxmlformats.org/drawingml/2006/main" noGrp="1"/>
          </p:cNvSpPr>
          <p:nvPr/>
        </p:nvSpPr>
        <p:spPr>
          <a:xfrm xmlns:a="http://schemas.openxmlformats.org/drawingml/2006/main">
            <a:off x="5040630" y="4438650"/>
            <a:ext cx="211074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9E0EA"/>
            </a:solidFill>
            <a:prstDash val="solid"/>
          </a:ln>
        </p:spPr>
      </p:sp>
      <p:sp>
        <p:nvSpPr>
          <p:cNvPr id="15" name="">
            <a:extLst xmlns:a="http://schemas.openxmlformats.org/drawingml/2006/main">
              <a:ext uri="{FF2B5EF4-FFF2-40B4-BE49-F238E27FC236}">
                <a16:creationId xmlns:a16="http://schemas.microsoft.com/office/drawing/2014/main" id="{60B2E021-9990-4279-A960-0F3E98AC3E90}"/>
              </a:ext>
            </a:extLst>
          </p:cNvPr>
          <p:cNvSpPr>
            <a:spLocks xmlns:a="http://schemas.openxmlformats.org/drawingml/2006/main" noGrp="1"/>
          </p:cNvSpPr>
          <p:nvPr/>
        </p:nvSpPr>
        <p:spPr>
          <a:xfrm xmlns:a="http://schemas.openxmlformats.org/drawingml/2006/main">
            <a:off x="5040630" y="4438650"/>
            <a:ext cx="57150" cy="800100"/>
          </a:xfrm>
          <a:prstGeom xmlns:a="http://schemas.openxmlformats.org/drawingml/2006/main" prst="rect">
            <a:avLst/>
          </a:prstGeom>
          <a:solidFill xmlns:a="http://schemas.openxmlformats.org/drawingml/2006/main">
            <a:srgbClr val="F0B35A"/>
          </a:solidFill>
          <a:ln xmlns:a="http://schemas.openxmlformats.org/drawingml/2006/main" w="0">
            <a:solidFill>
              <a:srgbClr val="F0B35A"/>
            </a:solidFill>
            <a:prstDash val="solid"/>
          </a:ln>
        </p:spPr>
      </p:sp>
      <p:sp>
        <p:nvSpPr>
          <p:cNvPr id="16" name="">
            <a:extLst xmlns:a="http://schemas.openxmlformats.org/drawingml/2006/main">
              <a:ext uri="{FF2B5EF4-FFF2-40B4-BE49-F238E27FC236}">
                <a16:creationId xmlns:a16="http://schemas.microsoft.com/office/drawing/2014/main" id="{0813016D-4933-4C72-B355-68DA09EA18FC}"/>
              </a:ext>
            </a:extLst>
          </p:cNvPr>
          <p:cNvSpPr>
            <a:spLocks xmlns:a="http://schemas.openxmlformats.org/drawingml/2006/main" noGrp="1"/>
          </p:cNvSpPr>
          <p:nvPr/>
        </p:nvSpPr>
        <p:spPr>
          <a:xfrm xmlns:a="http://schemas.openxmlformats.org/drawingml/2006/main">
            <a:off x="5212080" y="4572000"/>
            <a:ext cx="18249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6324F"/>
                </a:solidFill>
                <a:latin typeface="Aptos"/>
                <a:ea typeface="Aptos"/>
                <a:cs typeface="Aptos"/>
              </a:defRPr>
            </a:pPr>
            <a:r>
              <a:rPr sz="1125" b="1">
                <a:solidFill>
                  <a:srgbClr val="16324F"/>
                </a:solidFill>
                <a:latin typeface="Aptos"/>
                <a:ea typeface="Aptos"/>
                <a:cs typeface="Aptos"/>
              </a:rPr>
              <a:t>XIE HAOXIANG</a:t>
            </a:r>
          </a:p>
        </p:txBody>
      </p:sp>
      <p:sp>
        <p:nvSpPr>
          <p:cNvPr id="17" name="">
            <a:extLst xmlns:a="http://schemas.openxmlformats.org/drawingml/2006/main">
              <a:ext uri="{FF2B5EF4-FFF2-40B4-BE49-F238E27FC236}">
                <a16:creationId xmlns:a16="http://schemas.microsoft.com/office/drawing/2014/main" id="{769D806F-2492-41B4-9189-1142130CE634}"/>
              </a:ext>
            </a:extLst>
          </p:cNvPr>
          <p:cNvSpPr>
            <a:spLocks xmlns:a="http://schemas.openxmlformats.org/drawingml/2006/main" noGrp="1"/>
          </p:cNvSpPr>
          <p:nvPr/>
        </p:nvSpPr>
        <p:spPr>
          <a:xfrm xmlns:a="http://schemas.openxmlformats.org/drawingml/2006/main">
            <a:off x="5212080" y="4857750"/>
            <a:ext cx="18249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5C677D"/>
                </a:solidFill>
                <a:latin typeface="Aptos"/>
                <a:ea typeface="Aptos"/>
                <a:cs typeface="Aptos"/>
              </a:defRPr>
            </a:pPr>
            <a:r>
              <a:rPr sz="975" b="0">
                <a:solidFill>
                  <a:srgbClr val="5C677D"/>
                </a:solidFill>
                <a:latin typeface="Aptos"/>
                <a:ea typeface="Aptos"/>
                <a:cs typeface="Aptos"/>
              </a:rPr>
              <a:t>Environments &amp; estimators</a:t>
            </a:r>
          </a:p>
        </p:txBody>
      </p:sp>
      <p:sp>
        <p:nvSpPr>
          <p:cNvPr id="18" name="">
            <a:extLst xmlns:a="http://schemas.openxmlformats.org/drawingml/2006/main">
              <a:ext uri="{FF2B5EF4-FFF2-40B4-BE49-F238E27FC236}">
                <a16:creationId xmlns:a16="http://schemas.microsoft.com/office/drawing/2014/main" id="{D5F1EA09-CEBC-42D8-AA4F-56E9750FC98C}"/>
              </a:ext>
            </a:extLst>
          </p:cNvPr>
          <p:cNvSpPr>
            <a:spLocks xmlns:a="http://schemas.openxmlformats.org/drawingml/2006/main" noGrp="1"/>
          </p:cNvSpPr>
          <p:nvPr/>
        </p:nvSpPr>
        <p:spPr>
          <a:xfrm xmlns:a="http://schemas.openxmlformats.org/drawingml/2006/main">
            <a:off x="7265670" y="4438650"/>
            <a:ext cx="211074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9E0EA"/>
            </a:solidFill>
            <a:prstDash val="solid"/>
          </a:ln>
        </p:spPr>
      </p:sp>
      <p:sp>
        <p:nvSpPr>
          <p:cNvPr id="19" name="">
            <a:extLst xmlns:a="http://schemas.openxmlformats.org/drawingml/2006/main">
              <a:ext uri="{FF2B5EF4-FFF2-40B4-BE49-F238E27FC236}">
                <a16:creationId xmlns:a16="http://schemas.microsoft.com/office/drawing/2014/main" id="{CBD778D8-ED67-4D6B-9899-DA0D28964764}"/>
              </a:ext>
            </a:extLst>
          </p:cNvPr>
          <p:cNvSpPr>
            <a:spLocks xmlns:a="http://schemas.openxmlformats.org/drawingml/2006/main" noGrp="1"/>
          </p:cNvSpPr>
          <p:nvPr/>
        </p:nvSpPr>
        <p:spPr>
          <a:xfrm xmlns:a="http://schemas.openxmlformats.org/drawingml/2006/main">
            <a:off x="7265670" y="4438650"/>
            <a:ext cx="57150" cy="800100"/>
          </a:xfrm>
          <a:prstGeom xmlns:a="http://schemas.openxmlformats.org/drawingml/2006/main" prst="rect">
            <a:avLst/>
          </a:prstGeom>
          <a:solidFill xmlns:a="http://schemas.openxmlformats.org/drawingml/2006/main">
            <a:srgbClr val="E05A63"/>
          </a:solidFill>
          <a:ln xmlns:a="http://schemas.openxmlformats.org/drawingml/2006/main" w="0">
            <a:solidFill>
              <a:srgbClr val="E05A63"/>
            </a:solidFill>
            <a:prstDash val="solid"/>
          </a:ln>
        </p:spPr>
      </p:sp>
      <p:sp>
        <p:nvSpPr>
          <p:cNvPr id="20" name="">
            <a:extLst xmlns:a="http://schemas.openxmlformats.org/drawingml/2006/main">
              <a:ext uri="{FF2B5EF4-FFF2-40B4-BE49-F238E27FC236}">
                <a16:creationId xmlns:a16="http://schemas.microsoft.com/office/drawing/2014/main" id="{EF9E7589-99BE-4979-AE3E-B550925C451D}"/>
              </a:ext>
            </a:extLst>
          </p:cNvPr>
          <p:cNvSpPr>
            <a:spLocks xmlns:a="http://schemas.openxmlformats.org/drawingml/2006/main" noGrp="1"/>
          </p:cNvSpPr>
          <p:nvPr/>
        </p:nvSpPr>
        <p:spPr>
          <a:xfrm xmlns:a="http://schemas.openxmlformats.org/drawingml/2006/main">
            <a:off x="7437120" y="4572000"/>
            <a:ext cx="18249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6324F"/>
                </a:solidFill>
                <a:latin typeface="Aptos"/>
                <a:ea typeface="Aptos"/>
                <a:cs typeface="Aptos"/>
              </a:defRPr>
            </a:pPr>
            <a:r>
              <a:rPr sz="1125" b="1">
                <a:solidFill>
                  <a:srgbClr val="16324F"/>
                </a:solidFill>
                <a:latin typeface="Aptos"/>
                <a:ea typeface="Aptos"/>
                <a:cs typeface="Aptos"/>
              </a:rPr>
              <a:t>ZHONG YIFAN</a:t>
            </a:r>
          </a:p>
        </p:txBody>
      </p:sp>
      <p:sp>
        <p:nvSpPr>
          <p:cNvPr id="21" name="">
            <a:extLst xmlns:a="http://schemas.openxmlformats.org/drawingml/2006/main">
              <a:ext uri="{FF2B5EF4-FFF2-40B4-BE49-F238E27FC236}">
                <a16:creationId xmlns:a16="http://schemas.microsoft.com/office/drawing/2014/main" id="{ABC2D04F-692B-46CE-B63C-E02F9158CDFA}"/>
              </a:ext>
            </a:extLst>
          </p:cNvPr>
          <p:cNvSpPr>
            <a:spLocks xmlns:a="http://schemas.openxmlformats.org/drawingml/2006/main" noGrp="1"/>
          </p:cNvSpPr>
          <p:nvPr/>
        </p:nvSpPr>
        <p:spPr>
          <a:xfrm xmlns:a="http://schemas.openxmlformats.org/drawingml/2006/main">
            <a:off x="7437120" y="4857750"/>
            <a:ext cx="18249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5C677D"/>
                </a:solidFill>
                <a:latin typeface="Aptos"/>
                <a:ea typeface="Aptos"/>
                <a:cs typeface="Aptos"/>
              </a:defRPr>
            </a:pPr>
            <a:r>
              <a:rPr sz="975" b="0">
                <a:solidFill>
                  <a:srgbClr val="5C677D"/>
                </a:solidFill>
                <a:latin typeface="Aptos"/>
                <a:ea typeface="Aptos"/>
                <a:cs typeface="Aptos"/>
              </a:rPr>
              <a:t>Algorithms &amp; infrastructure</a:t>
            </a:r>
          </a:p>
        </p:txBody>
      </p:sp>
      <p:sp>
        <p:nvSpPr>
          <p:cNvPr id="22" name="">
            <a:extLst xmlns:a="http://schemas.openxmlformats.org/drawingml/2006/main">
              <a:ext uri="{FF2B5EF4-FFF2-40B4-BE49-F238E27FC236}">
                <a16:creationId xmlns:a16="http://schemas.microsoft.com/office/drawing/2014/main" id="{F56591CF-08A6-4FB9-BF15-1E2DF41012D2}"/>
              </a:ext>
            </a:extLst>
          </p:cNvPr>
          <p:cNvSpPr>
            <a:spLocks xmlns:a="http://schemas.openxmlformats.org/drawingml/2006/main" noGrp="1"/>
          </p:cNvSpPr>
          <p:nvPr/>
        </p:nvSpPr>
        <p:spPr>
          <a:xfrm xmlns:a="http://schemas.openxmlformats.org/drawingml/2006/main">
            <a:off x="9490710" y="4438650"/>
            <a:ext cx="211074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9E0EA"/>
            </a:solidFill>
            <a:prstDash val="solid"/>
          </a:ln>
        </p:spPr>
      </p:sp>
      <p:sp>
        <p:nvSpPr>
          <p:cNvPr id="23" name="">
            <a:extLst xmlns:a="http://schemas.openxmlformats.org/drawingml/2006/main">
              <a:ext uri="{FF2B5EF4-FFF2-40B4-BE49-F238E27FC236}">
                <a16:creationId xmlns:a16="http://schemas.microsoft.com/office/drawing/2014/main" id="{41F929D2-89CC-4A2F-9B59-4C2540BE15CC}"/>
              </a:ext>
            </a:extLst>
          </p:cNvPr>
          <p:cNvSpPr>
            <a:spLocks xmlns:a="http://schemas.openxmlformats.org/drawingml/2006/main" noGrp="1"/>
          </p:cNvSpPr>
          <p:nvPr/>
        </p:nvSpPr>
        <p:spPr>
          <a:xfrm xmlns:a="http://schemas.openxmlformats.org/drawingml/2006/main">
            <a:off x="9490710" y="4438650"/>
            <a:ext cx="57150" cy="800100"/>
          </a:xfrm>
          <a:prstGeom xmlns:a="http://schemas.openxmlformats.org/drawingml/2006/main" prst="rect">
            <a:avLst/>
          </a:prstGeom>
          <a:solidFill xmlns:a="http://schemas.openxmlformats.org/drawingml/2006/main">
            <a:srgbClr val="16324F"/>
          </a:solidFill>
          <a:ln xmlns:a="http://schemas.openxmlformats.org/drawingml/2006/main" w="0">
            <a:solidFill>
              <a:srgbClr val="16324F"/>
            </a:solidFill>
            <a:prstDash val="solid"/>
          </a:ln>
        </p:spPr>
      </p:sp>
      <p:sp>
        <p:nvSpPr>
          <p:cNvPr id="24" name="">
            <a:extLst xmlns:a="http://schemas.openxmlformats.org/drawingml/2006/main">
              <a:ext uri="{FF2B5EF4-FFF2-40B4-BE49-F238E27FC236}">
                <a16:creationId xmlns:a16="http://schemas.microsoft.com/office/drawing/2014/main" id="{154983AB-BE55-4730-93E8-146851C1272D}"/>
              </a:ext>
            </a:extLst>
          </p:cNvPr>
          <p:cNvSpPr>
            <a:spLocks xmlns:a="http://schemas.openxmlformats.org/drawingml/2006/main" noGrp="1"/>
          </p:cNvSpPr>
          <p:nvPr/>
        </p:nvSpPr>
        <p:spPr>
          <a:xfrm xmlns:a="http://schemas.openxmlformats.org/drawingml/2006/main">
            <a:off x="9662160" y="4572000"/>
            <a:ext cx="18249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6324F"/>
                </a:solidFill>
                <a:latin typeface="Aptos"/>
                <a:ea typeface="Aptos"/>
                <a:cs typeface="Aptos"/>
              </a:defRPr>
            </a:pPr>
            <a:r>
              <a:rPr sz="1125" b="1">
                <a:solidFill>
                  <a:srgbClr val="16324F"/>
                </a:solidFill>
                <a:latin typeface="Aptos"/>
                <a:ea typeface="Aptos"/>
                <a:cs typeface="Aptos"/>
              </a:rPr>
              <a:t>LI YUFEI</a:t>
            </a:r>
          </a:p>
        </p:txBody>
      </p:sp>
      <p:sp>
        <p:nvSpPr>
          <p:cNvPr id="25" name="">
            <a:extLst xmlns:a="http://schemas.openxmlformats.org/drawingml/2006/main">
              <a:ext uri="{FF2B5EF4-FFF2-40B4-BE49-F238E27FC236}">
                <a16:creationId xmlns:a16="http://schemas.microsoft.com/office/drawing/2014/main" id="{5F8B38EA-FEB0-4016-83E8-8E18A144E68D}"/>
              </a:ext>
            </a:extLst>
          </p:cNvPr>
          <p:cNvSpPr>
            <a:spLocks xmlns:a="http://schemas.openxmlformats.org/drawingml/2006/main" noGrp="1"/>
          </p:cNvSpPr>
          <p:nvPr/>
        </p:nvSpPr>
        <p:spPr>
          <a:xfrm xmlns:a="http://schemas.openxmlformats.org/drawingml/2006/main">
            <a:off x="9662160" y="4857750"/>
            <a:ext cx="18249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5C677D"/>
                </a:solidFill>
                <a:latin typeface="Aptos"/>
                <a:ea typeface="Aptos"/>
                <a:cs typeface="Aptos"/>
              </a:defRPr>
            </a:pPr>
            <a:r>
              <a:rPr sz="975" b="0">
                <a:solidFill>
                  <a:srgbClr val="5C677D"/>
                </a:solidFill>
                <a:latin typeface="Aptos"/>
                <a:ea typeface="Aptos"/>
                <a:cs typeface="Aptos"/>
              </a:rPr>
              <a:t>Experiments &amp; analysis</a:t>
            </a:r>
          </a:p>
        </p:txBody>
      </p:sp>
      <p:sp>
        <p:nvSpPr>
          <p:cNvPr id="26" name="">
            <a:extLst xmlns:a="http://schemas.openxmlformats.org/drawingml/2006/main">
              <a:ext uri="{FF2B5EF4-FFF2-40B4-BE49-F238E27FC236}">
                <a16:creationId xmlns:a16="http://schemas.microsoft.com/office/drawing/2014/main" id="{80E85E3C-A000-4FB9-8FE2-658A6E0D1913}"/>
              </a:ext>
            </a:extLst>
          </p:cNvPr>
          <p:cNvSpPr>
            <a:spLocks xmlns:a="http://schemas.openxmlformats.org/drawingml/2006/main" noGrp="1"/>
          </p:cNvSpPr>
          <p:nvPr/>
        </p:nvSpPr>
        <p:spPr>
          <a:xfrm xmlns:a="http://schemas.openxmlformats.org/drawingml/2006/main">
            <a:off x="590550" y="55435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5C677D"/>
                </a:solidFill>
                <a:latin typeface="Aptos"/>
                <a:ea typeface="Aptos"/>
                <a:cs typeface="Aptos"/>
              </a:defRPr>
            </a:pPr>
            <a:r>
              <a:rPr sz="1200" b="0">
                <a:solidFill>
                  <a:srgbClr val="5C677D"/>
                </a:solidFill>
                <a:latin typeface="Aptos"/>
                <a:ea typeface="Aptos"/>
                <a:cs typeface="Aptos"/>
              </a:rPr>
              <a:t>A five-person optimization study with cross-review of evidence and claims.</a:t>
            </a:r>
          </a:p>
        </p:txBody>
      </p:sp>
      <p:sp>
        <p:nvSpPr>
          <p:cNvPr id="27" name="">
            <a:extLst xmlns:a="http://schemas.openxmlformats.org/drawingml/2006/main">
              <a:ext uri="{FF2B5EF4-FFF2-40B4-BE49-F238E27FC236}">
                <a16:creationId xmlns:a16="http://schemas.microsoft.com/office/drawing/2014/main" id="{B0F9D02A-DFB2-48B1-8C83-9F483CC90792}"/>
              </a:ext>
            </a:extLst>
          </p:cNvPr>
          <p:cNvSpPr>
            <a:spLocks xmlns:a="http://schemas.openxmlformats.org/drawingml/2006/main" noGrp="1"/>
          </p:cNvSpPr>
          <p:nvPr/>
        </p:nvSpPr>
        <p:spPr>
          <a:xfrm xmlns:a="http://schemas.openxmlformats.org/drawingml/2006/main">
            <a:off x="590550" y="65151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8B95A8"/>
                </a:solidFill>
                <a:latin typeface="Aptos"/>
                <a:ea typeface="Aptos"/>
                <a:cs typeface="Aptos"/>
              </a:defRPr>
            </a:pPr>
            <a:r>
              <a:rPr sz="750" b="1">
                <a:solidFill>
                  <a:srgbClr val="8B95A8"/>
                </a:solidFill>
                <a:latin typeface="Aptos"/>
                <a:ea typeface="Aptos"/>
                <a:cs typeface="Aptos"/>
              </a:rPr>
              <a:t>TEAM PRISM  |  RC-OMD WORKSHOP</a:t>
            </a:r>
          </a:p>
        </p:txBody>
      </p:sp>
    </p:spTree>
    <p:extLst>
      <p:ext uri="{BB962C8B-B14F-4D97-AF65-F5344CB8AC3E}">
        <p14:creationId xmlns:p14="http://schemas.microsoft.com/office/powerpoint/2010/main" val="1906775160"/>
      </p:ext>
    </p:extLst>
  </p:cSld>
</p:sld>
</file>

<file path=ppt/slides/slide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9C165B0-5F8C-4963-8749-46EC7F613317}"/>
              </a:ext>
            </a:extLst>
          </p:cNvPr>
          <p:cNvSpPr>
            <a:spLocks xmlns:a="http://schemas.openxmlformats.org/drawingml/2006/main" noGrp="1"/>
          </p:cNvSpPr>
          <p:nvPr/>
        </p:nvSpPr>
        <p:spPr>
          <a:xfrm xmlns:a="http://schemas.openxmlformats.org/drawingml/2006/main">
            <a:off x="590550" y="3619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87F72"/>
                </a:solidFill>
                <a:latin typeface="Aptos"/>
                <a:ea typeface="Aptos"/>
                <a:cs typeface="Aptos"/>
              </a:defRPr>
            </a:pPr>
            <a:r>
              <a:rPr sz="1050" b="1">
                <a:solidFill>
                  <a:srgbClr val="087F72"/>
                </a:solidFill>
                <a:latin typeface="Aptos"/>
                <a:ea typeface="Aptos"/>
                <a:cs typeface="Aptos"/>
              </a:rPr>
              <a:t>02</a:t>
            </a:r>
          </a:p>
        </p:txBody>
      </p:sp>
      <p:sp>
        <p:nvSpPr>
          <p:cNvPr id="2" name="">
            <a:extLst xmlns:a="http://schemas.openxmlformats.org/drawingml/2006/main">
              <a:ext uri="{FF2B5EF4-FFF2-40B4-BE49-F238E27FC236}">
                <a16:creationId xmlns:a16="http://schemas.microsoft.com/office/drawing/2014/main" id="{6E81E6A4-418A-4426-9365-8402D20B1762}"/>
              </a:ext>
            </a:extLst>
          </p:cNvPr>
          <p:cNvSpPr>
            <a:spLocks xmlns:a="http://schemas.openxmlformats.org/drawingml/2006/main" noGrp="1"/>
          </p:cNvSpPr>
          <p:nvPr/>
        </p:nvSpPr>
        <p:spPr>
          <a:xfrm xmlns:a="http://schemas.openxmlformats.org/drawingml/2006/main">
            <a:off x="1066800" y="36195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B95A8"/>
                </a:solidFill>
                <a:latin typeface="Aptos"/>
                <a:ea typeface="Aptos"/>
                <a:cs typeface="Aptos"/>
              </a:defRPr>
            </a:pPr>
            <a:r>
              <a:rPr sz="975" b="1">
                <a:solidFill>
                  <a:srgbClr val="8B95A8"/>
                </a:solidFill>
                <a:latin typeface="Aptos"/>
                <a:ea typeface="Aptos"/>
                <a:cs typeface="Aptos"/>
              </a:rPr>
              <a:t>PROBLEM</a:t>
            </a:r>
          </a:p>
        </p:txBody>
      </p:sp>
      <p:sp>
        <p:nvSpPr>
          <p:cNvPr id="3" name="">
            <a:extLst xmlns:a="http://schemas.openxmlformats.org/drawingml/2006/main">
              <a:ext uri="{FF2B5EF4-FFF2-40B4-BE49-F238E27FC236}">
                <a16:creationId xmlns:a16="http://schemas.microsoft.com/office/drawing/2014/main" id="{F8B823B0-4D99-4CDB-8A20-A1A61F293911}"/>
              </a:ext>
            </a:extLst>
          </p:cNvPr>
          <p:cNvSpPr>
            <a:spLocks xmlns:a="http://schemas.openxmlformats.org/drawingml/2006/main" noGrp="1"/>
          </p:cNvSpPr>
          <p:nvPr/>
        </p:nvSpPr>
        <p:spPr>
          <a:xfrm xmlns:a="http://schemas.openxmlformats.org/drawingml/2006/main">
            <a:off x="590550" y="742950"/>
            <a:ext cx="11010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0B1020"/>
                </a:solidFill>
                <a:latin typeface="Aptos"/>
                <a:ea typeface="Aptos"/>
                <a:cs typeface="Aptos"/>
              </a:defRPr>
            </a:pPr>
            <a:r>
              <a:rPr sz="2700" b="1">
                <a:solidFill>
                  <a:srgbClr val="0B1020"/>
                </a:solidFill>
                <a:latin typeface="Aptos"/>
                <a:ea typeface="Aptos"/>
                <a:cs typeface="Aptos"/>
              </a:rPr>
              <a:t>One terminal bit must supervise a long trajectory</a:t>
            </a:r>
          </a:p>
        </p:txBody>
      </p:sp>
      <p:sp>
        <p:nvSpPr>
          <p:cNvPr id="4" name="">
            <a:extLst xmlns:a="http://schemas.openxmlformats.org/drawingml/2006/main">
              <a:ext uri="{FF2B5EF4-FFF2-40B4-BE49-F238E27FC236}">
                <a16:creationId xmlns:a16="http://schemas.microsoft.com/office/drawing/2014/main" id="{3DB6DD5C-CFC5-4D98-8242-58020AA92E31}"/>
              </a:ext>
            </a:extLst>
          </p:cNvPr>
          <p:cNvSpPr>
            <a:spLocks xmlns:a="http://schemas.openxmlformats.org/drawingml/2006/main" noGrp="1"/>
          </p:cNvSpPr>
          <p:nvPr/>
        </p:nvSpPr>
        <p:spPr>
          <a:xfrm xmlns:a="http://schemas.openxmlformats.org/drawingml/2006/main">
            <a:off x="590550" y="1438275"/>
            <a:ext cx="110109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9618A95B-A754-4D0C-8E64-FE398BCF7093}"/>
              </a:ext>
            </a:extLst>
          </p:cNvPr>
          <p:cNvSpPr>
            <a:spLocks xmlns:a="http://schemas.openxmlformats.org/drawingml/2006/main" noGrp="1"/>
          </p:cNvSpPr>
          <p:nvPr/>
        </p:nvSpPr>
        <p:spPr>
          <a:xfrm xmlns:a="http://schemas.openxmlformats.org/drawingml/2006/main">
            <a:off x="590550" y="1809750"/>
            <a:ext cx="3086100" cy="310515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9525">
            <a:solidFill>
              <a:srgbClr val="D9E0EA"/>
            </a:solidFill>
            <a:prstDash val="solid"/>
          </a:ln>
        </p:spPr>
      </p:sp>
      <p:sp>
        <p:nvSpPr>
          <p:cNvPr id="6" name="">
            <a:extLst xmlns:a="http://schemas.openxmlformats.org/drawingml/2006/main">
              <a:ext uri="{FF2B5EF4-FFF2-40B4-BE49-F238E27FC236}">
                <a16:creationId xmlns:a16="http://schemas.microsoft.com/office/drawing/2014/main" id="{54EA7E21-02BE-47EE-B0F6-B539DB080ED4}"/>
              </a:ext>
            </a:extLst>
          </p:cNvPr>
          <p:cNvSpPr>
            <a:spLocks xmlns:a="http://schemas.openxmlformats.org/drawingml/2006/main" noGrp="1"/>
          </p:cNvSpPr>
          <p:nvPr/>
        </p:nvSpPr>
        <p:spPr>
          <a:xfrm xmlns:a="http://schemas.openxmlformats.org/drawingml/2006/main">
            <a:off x="819150" y="2057400"/>
            <a:ext cx="1428750" cy="285750"/>
          </a:xfrm>
          <a:prstGeom xmlns:a="http://schemas.openxmlformats.org/drawingml/2006/main" prst="roundRect">
            <a:avLst>
              <a:gd name="adj" fmla="val 50000"/>
            </a:avLst>
          </a:prstGeom>
          <a:solidFill xmlns:a="http://schemas.openxmlformats.org/drawingml/2006/main">
            <a:srgbClr val="EAF0FF"/>
          </a:solidFill>
          <a:ln xmlns:a="http://schemas.openxmlformats.org/drawingml/2006/main" w="9525">
            <a:solidFill>
              <a:srgbClr val="EAF0FF"/>
            </a:solidFill>
            <a:prstDash val="solid"/>
          </a:ln>
        </p:spPr>
      </p:sp>
      <p:sp>
        <p:nvSpPr>
          <p:cNvPr id="7" name="">
            <a:extLst xmlns:a="http://schemas.openxmlformats.org/drawingml/2006/main">
              <a:ext uri="{FF2B5EF4-FFF2-40B4-BE49-F238E27FC236}">
                <a16:creationId xmlns:a16="http://schemas.microsoft.com/office/drawing/2014/main" id="{2AF5268D-FB5D-4EA6-9918-D306D41FB014}"/>
              </a:ext>
            </a:extLst>
          </p:cNvPr>
          <p:cNvSpPr>
            <a:spLocks xmlns:a="http://schemas.openxmlformats.org/drawingml/2006/main" noGrp="1"/>
          </p:cNvSpPr>
          <p:nvPr/>
        </p:nvSpPr>
        <p:spPr>
          <a:xfrm xmlns:a="http://schemas.openxmlformats.org/drawingml/2006/main">
            <a:off x="895350" y="2095500"/>
            <a:ext cx="1276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2F6FED"/>
                </a:solidFill>
                <a:latin typeface="Aptos"/>
                <a:ea typeface="Aptos"/>
                <a:cs typeface="Aptos"/>
              </a:defRPr>
            </a:pPr>
            <a:r>
              <a:rPr sz="975" b="1">
                <a:solidFill>
                  <a:srgbClr val="2F6FED"/>
                </a:solidFill>
                <a:latin typeface="Aptos"/>
                <a:ea typeface="Aptos"/>
                <a:cs typeface="Aptos"/>
              </a:rPr>
              <a:t>SPARSE SIGNAL</a:t>
            </a:r>
          </a:p>
        </p:txBody>
      </p:sp>
      <p:sp>
        <p:nvSpPr>
          <p:cNvPr id="8" name="">
            <a:extLst xmlns:a="http://schemas.openxmlformats.org/drawingml/2006/main">
              <a:ext uri="{FF2B5EF4-FFF2-40B4-BE49-F238E27FC236}">
                <a16:creationId xmlns:a16="http://schemas.microsoft.com/office/drawing/2014/main" id="{48BFF315-B5A4-4391-B092-04077C5F2D7A}"/>
              </a:ext>
            </a:extLst>
          </p:cNvPr>
          <p:cNvSpPr>
            <a:spLocks xmlns:a="http://schemas.openxmlformats.org/drawingml/2006/main" noGrp="1"/>
          </p:cNvSpPr>
          <p:nvPr/>
        </p:nvSpPr>
        <p:spPr>
          <a:xfrm xmlns:a="http://schemas.openxmlformats.org/drawingml/2006/main">
            <a:off x="819150" y="2628900"/>
            <a:ext cx="2628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0B1020"/>
                </a:solidFill>
                <a:latin typeface="Aptos"/>
                <a:ea typeface="Aptos"/>
                <a:cs typeface="Aptos"/>
              </a:defRPr>
            </a:pPr>
            <a:r>
              <a:rPr sz="2250" b="1">
                <a:solidFill>
                  <a:srgbClr val="0B1020"/>
                </a:solidFill>
                <a:latin typeface="Aptos"/>
                <a:ea typeface="Aptos"/>
                <a:cs typeface="Aptos"/>
              </a:rPr>
              <a:t>R(τ) ∈ {0,1}</a:t>
            </a:r>
          </a:p>
        </p:txBody>
      </p:sp>
      <p:sp>
        <p:nvSpPr>
          <p:cNvPr id="9" name="">
            <a:extLst xmlns:a="http://schemas.openxmlformats.org/drawingml/2006/main">
              <a:ext uri="{FF2B5EF4-FFF2-40B4-BE49-F238E27FC236}">
                <a16:creationId xmlns:a16="http://schemas.microsoft.com/office/drawing/2014/main" id="{838C6921-56D9-4573-9122-3041FBC901A5}"/>
              </a:ext>
            </a:extLst>
          </p:cNvPr>
          <p:cNvSpPr>
            <a:spLocks xmlns:a="http://schemas.openxmlformats.org/drawingml/2006/main" noGrp="1"/>
          </p:cNvSpPr>
          <p:nvPr/>
        </p:nvSpPr>
        <p:spPr>
          <a:xfrm xmlns:a="http://schemas.openxmlformats.org/drawingml/2006/main">
            <a:off x="819150" y="3333750"/>
            <a:ext cx="26289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10" name="">
            <a:extLst xmlns:a="http://schemas.openxmlformats.org/drawingml/2006/main">
              <a:ext uri="{FF2B5EF4-FFF2-40B4-BE49-F238E27FC236}">
                <a16:creationId xmlns:a16="http://schemas.microsoft.com/office/drawing/2014/main" id="{0C57D91C-07AC-4DFD-8A32-391870CBB652}"/>
              </a:ext>
            </a:extLst>
          </p:cNvPr>
          <p:cNvSpPr>
            <a:spLocks xmlns:a="http://schemas.openxmlformats.org/drawingml/2006/main" noGrp="1"/>
          </p:cNvSpPr>
          <p:nvPr/>
        </p:nvSpPr>
        <p:spPr>
          <a:xfrm xmlns:a="http://schemas.openxmlformats.org/drawingml/2006/main">
            <a:off x="819150" y="3600450"/>
            <a:ext cx="26289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5C677D"/>
                </a:solidFill>
                <a:latin typeface="Aptos"/>
                <a:ea typeface="Aptos"/>
                <a:cs typeface="Aptos"/>
              </a:defRPr>
            </a:pPr>
            <a:r>
              <a:rPr sz="1350" b="0">
                <a:solidFill>
                  <a:srgbClr val="5C677D"/>
                </a:solidFill>
                <a:latin typeface="Aptos"/>
                <a:ea typeface="Aptos"/>
                <a:cs typeface="Aptos"/>
              </a:rPr>
              <a:t>The verifier scores the completed trajectory, not each intermediate decision.</a:t>
            </a:r>
          </a:p>
        </p:txBody>
      </p:sp>
      <p:sp>
        <p:nvSpPr>
          <p:cNvPr id="11" name="">
            <a:extLst xmlns:a="http://schemas.openxmlformats.org/drawingml/2006/main">
              <a:ext uri="{FF2B5EF4-FFF2-40B4-BE49-F238E27FC236}">
                <a16:creationId xmlns:a16="http://schemas.microsoft.com/office/drawing/2014/main" id="{1E01CC28-B52D-46A8-B315-1FEEB895BB7C}"/>
              </a:ext>
            </a:extLst>
          </p:cNvPr>
          <p:cNvSpPr>
            <a:spLocks xmlns:a="http://schemas.openxmlformats.org/drawingml/2006/main" noGrp="1"/>
          </p:cNvSpPr>
          <p:nvPr/>
        </p:nvSpPr>
        <p:spPr>
          <a:xfrm xmlns:a="http://schemas.openxmlformats.org/drawingml/2006/main">
            <a:off x="4267200" y="1809750"/>
            <a:ext cx="3086100" cy="310515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9525">
            <a:solidFill>
              <a:srgbClr val="D9E0EA"/>
            </a:solidFill>
            <a:prstDash val="solid"/>
          </a:ln>
        </p:spPr>
      </p:sp>
      <p:sp>
        <p:nvSpPr>
          <p:cNvPr id="12" name="">
            <a:extLst xmlns:a="http://schemas.openxmlformats.org/drawingml/2006/main">
              <a:ext uri="{FF2B5EF4-FFF2-40B4-BE49-F238E27FC236}">
                <a16:creationId xmlns:a16="http://schemas.microsoft.com/office/drawing/2014/main" id="{FCDBA13B-C887-46DF-98E8-1E81623C087F}"/>
              </a:ext>
            </a:extLst>
          </p:cNvPr>
          <p:cNvSpPr>
            <a:spLocks xmlns:a="http://schemas.openxmlformats.org/drawingml/2006/main" noGrp="1"/>
          </p:cNvSpPr>
          <p:nvPr/>
        </p:nvSpPr>
        <p:spPr>
          <a:xfrm xmlns:a="http://schemas.openxmlformats.org/drawingml/2006/main">
            <a:off x="4495800" y="2057400"/>
            <a:ext cx="1428750" cy="285750"/>
          </a:xfrm>
          <a:prstGeom xmlns:a="http://schemas.openxmlformats.org/drawingml/2006/main" prst="roundRect">
            <a:avLst>
              <a:gd name="adj" fmla="val 50000"/>
            </a:avLst>
          </a:prstGeom>
          <a:solidFill xmlns:a="http://schemas.openxmlformats.org/drawingml/2006/main">
            <a:srgbClr val="E5F7F3"/>
          </a:solidFill>
          <a:ln xmlns:a="http://schemas.openxmlformats.org/drawingml/2006/main" w="9525">
            <a:solidFill>
              <a:srgbClr val="E5F7F3"/>
            </a:solidFill>
            <a:prstDash val="solid"/>
          </a:ln>
        </p:spPr>
      </p:sp>
      <p:sp>
        <p:nvSpPr>
          <p:cNvPr id="13" name="">
            <a:extLst xmlns:a="http://schemas.openxmlformats.org/drawingml/2006/main">
              <a:ext uri="{FF2B5EF4-FFF2-40B4-BE49-F238E27FC236}">
                <a16:creationId xmlns:a16="http://schemas.microsoft.com/office/drawing/2014/main" id="{910B4DD0-DBAE-4E20-A3C5-D093DEB5E72C}"/>
              </a:ext>
            </a:extLst>
          </p:cNvPr>
          <p:cNvSpPr>
            <a:spLocks xmlns:a="http://schemas.openxmlformats.org/drawingml/2006/main" noGrp="1"/>
          </p:cNvSpPr>
          <p:nvPr/>
        </p:nvSpPr>
        <p:spPr>
          <a:xfrm xmlns:a="http://schemas.openxmlformats.org/drawingml/2006/main">
            <a:off x="4572000" y="2095500"/>
            <a:ext cx="1276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087F72"/>
                </a:solidFill>
                <a:latin typeface="Aptos"/>
                <a:ea typeface="Aptos"/>
                <a:cs typeface="Aptos"/>
              </a:defRPr>
            </a:pPr>
            <a:r>
              <a:rPr sz="975" b="1">
                <a:solidFill>
                  <a:srgbClr val="087F72"/>
                </a:solidFill>
                <a:latin typeface="Aptos"/>
                <a:ea typeface="Aptos"/>
                <a:cs typeface="Aptos"/>
              </a:rPr>
              <a:t>GROUP BASELINE</a:t>
            </a:r>
          </a:p>
        </p:txBody>
      </p:sp>
      <p:sp>
        <p:nvSpPr>
          <p:cNvPr id="14" name="">
            <a:extLst xmlns:a="http://schemas.openxmlformats.org/drawingml/2006/main">
              <a:ext uri="{FF2B5EF4-FFF2-40B4-BE49-F238E27FC236}">
                <a16:creationId xmlns:a16="http://schemas.microsoft.com/office/drawing/2014/main" id="{222DF8A6-B178-4FD8-A4EB-6A039F6A6AB3}"/>
              </a:ext>
            </a:extLst>
          </p:cNvPr>
          <p:cNvSpPr>
            <a:spLocks xmlns:a="http://schemas.openxmlformats.org/drawingml/2006/main" noGrp="1"/>
          </p:cNvSpPr>
          <p:nvPr/>
        </p:nvSpPr>
        <p:spPr>
          <a:xfrm xmlns:a="http://schemas.openxmlformats.org/drawingml/2006/main">
            <a:off x="4495800" y="2628900"/>
            <a:ext cx="2628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0B1020"/>
                </a:solidFill>
                <a:latin typeface="Aptos"/>
                <a:ea typeface="Aptos"/>
                <a:cs typeface="Aptos"/>
              </a:defRPr>
            </a:pPr>
            <a:r>
              <a:rPr sz="2250" b="1">
                <a:solidFill>
                  <a:srgbClr val="0B1020"/>
                </a:solidFill>
                <a:latin typeface="Aptos"/>
                <a:ea typeface="Aptos"/>
                <a:cs typeface="Aptos"/>
              </a:rPr>
              <a:t>Aᵢ = rᵢ − r̄</a:t>
            </a:r>
          </a:p>
        </p:txBody>
      </p:sp>
      <p:sp>
        <p:nvSpPr>
          <p:cNvPr id="15" name="">
            <a:extLst xmlns:a="http://schemas.openxmlformats.org/drawingml/2006/main">
              <a:ext uri="{FF2B5EF4-FFF2-40B4-BE49-F238E27FC236}">
                <a16:creationId xmlns:a16="http://schemas.microsoft.com/office/drawing/2014/main" id="{FC370722-D62F-4CD7-B813-7BAEBBF9A841}"/>
              </a:ext>
            </a:extLst>
          </p:cNvPr>
          <p:cNvSpPr>
            <a:spLocks xmlns:a="http://schemas.openxmlformats.org/drawingml/2006/main" noGrp="1"/>
          </p:cNvSpPr>
          <p:nvPr/>
        </p:nvSpPr>
        <p:spPr>
          <a:xfrm xmlns:a="http://schemas.openxmlformats.org/drawingml/2006/main">
            <a:off x="4495800" y="3333750"/>
            <a:ext cx="26289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16" name="">
            <a:extLst xmlns:a="http://schemas.openxmlformats.org/drawingml/2006/main">
              <a:ext uri="{FF2B5EF4-FFF2-40B4-BE49-F238E27FC236}">
                <a16:creationId xmlns:a16="http://schemas.microsoft.com/office/drawing/2014/main" id="{7CF68A24-DEB5-4F10-A2F9-3C19B52BF69E}"/>
              </a:ext>
            </a:extLst>
          </p:cNvPr>
          <p:cNvSpPr>
            <a:spLocks xmlns:a="http://schemas.openxmlformats.org/drawingml/2006/main" noGrp="1"/>
          </p:cNvSpPr>
          <p:nvPr/>
        </p:nvSpPr>
        <p:spPr>
          <a:xfrm xmlns:a="http://schemas.openxmlformats.org/drawingml/2006/main">
            <a:off x="4495800" y="3600450"/>
            <a:ext cx="26289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5C677D"/>
                </a:solidFill>
                <a:latin typeface="Aptos"/>
                <a:ea typeface="Aptos"/>
                <a:cs typeface="Aptos"/>
              </a:defRPr>
            </a:pPr>
            <a:r>
              <a:rPr sz="1350" b="0">
                <a:solidFill>
                  <a:srgbClr val="5C677D"/>
                </a:solidFill>
                <a:latin typeface="Aptos"/>
                <a:ea typeface="Aptos"/>
                <a:cs typeface="Aptos"/>
              </a:rPr>
              <a:t>Group-relative updates compare sampled outcomes without training a separate critic.</a:t>
            </a:r>
          </a:p>
        </p:txBody>
      </p:sp>
      <p:sp>
        <p:nvSpPr>
          <p:cNvPr id="17" name="">
            <a:extLst xmlns:a="http://schemas.openxmlformats.org/drawingml/2006/main">
              <a:ext uri="{FF2B5EF4-FFF2-40B4-BE49-F238E27FC236}">
                <a16:creationId xmlns:a16="http://schemas.microsoft.com/office/drawing/2014/main" id="{5843473D-E854-41AD-9304-0C685C5119DF}"/>
              </a:ext>
            </a:extLst>
          </p:cNvPr>
          <p:cNvSpPr>
            <a:spLocks xmlns:a="http://schemas.openxmlformats.org/drawingml/2006/main" noGrp="1"/>
          </p:cNvSpPr>
          <p:nvPr/>
        </p:nvSpPr>
        <p:spPr>
          <a:xfrm xmlns:a="http://schemas.openxmlformats.org/drawingml/2006/main">
            <a:off x="7943850" y="1809750"/>
            <a:ext cx="3086100" cy="310515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9525">
            <a:solidFill>
              <a:srgbClr val="D9E0EA"/>
            </a:solidFill>
            <a:prstDash val="solid"/>
          </a:ln>
        </p:spPr>
      </p:sp>
      <p:sp>
        <p:nvSpPr>
          <p:cNvPr id="18" name="">
            <a:extLst xmlns:a="http://schemas.openxmlformats.org/drawingml/2006/main">
              <a:ext uri="{FF2B5EF4-FFF2-40B4-BE49-F238E27FC236}">
                <a16:creationId xmlns:a16="http://schemas.microsoft.com/office/drawing/2014/main" id="{B35DCD2D-3834-4312-B225-46E4B07E9C9D}"/>
              </a:ext>
            </a:extLst>
          </p:cNvPr>
          <p:cNvSpPr>
            <a:spLocks xmlns:a="http://schemas.openxmlformats.org/drawingml/2006/main" noGrp="1"/>
          </p:cNvSpPr>
          <p:nvPr/>
        </p:nvSpPr>
        <p:spPr>
          <a:xfrm xmlns:a="http://schemas.openxmlformats.org/drawingml/2006/main">
            <a:off x="8172450" y="2057400"/>
            <a:ext cx="1428750" cy="285750"/>
          </a:xfrm>
          <a:prstGeom xmlns:a="http://schemas.openxmlformats.org/drawingml/2006/main" prst="roundRect">
            <a:avLst>
              <a:gd name="adj" fmla="val 50000"/>
            </a:avLst>
          </a:prstGeom>
          <a:solidFill xmlns:a="http://schemas.openxmlformats.org/drawingml/2006/main">
            <a:srgbClr val="FFF3DF"/>
          </a:solidFill>
          <a:ln xmlns:a="http://schemas.openxmlformats.org/drawingml/2006/main" w="9525">
            <a:solidFill>
              <a:srgbClr val="FFF3DF"/>
            </a:solidFill>
            <a:prstDash val="solid"/>
          </a:ln>
        </p:spPr>
      </p:sp>
      <p:sp>
        <p:nvSpPr>
          <p:cNvPr id="19" name="">
            <a:extLst xmlns:a="http://schemas.openxmlformats.org/drawingml/2006/main">
              <a:ext uri="{FF2B5EF4-FFF2-40B4-BE49-F238E27FC236}">
                <a16:creationId xmlns:a16="http://schemas.microsoft.com/office/drawing/2014/main" id="{9D0F5805-8B4C-4F89-AC0F-66EFD0CEC1D5}"/>
              </a:ext>
            </a:extLst>
          </p:cNvPr>
          <p:cNvSpPr>
            <a:spLocks xmlns:a="http://schemas.openxmlformats.org/drawingml/2006/main" noGrp="1"/>
          </p:cNvSpPr>
          <p:nvPr/>
        </p:nvSpPr>
        <p:spPr>
          <a:xfrm xmlns:a="http://schemas.openxmlformats.org/drawingml/2006/main">
            <a:off x="8248650" y="2095500"/>
            <a:ext cx="1276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9B640C"/>
                </a:solidFill>
                <a:latin typeface="Aptos"/>
                <a:ea typeface="Aptos"/>
                <a:cs typeface="Aptos"/>
              </a:defRPr>
            </a:pPr>
            <a:r>
              <a:rPr sz="975" b="1">
                <a:solidFill>
                  <a:srgbClr val="9B640C"/>
                </a:solidFill>
                <a:latin typeface="Aptos"/>
                <a:ea typeface="Aptos"/>
                <a:cs typeface="Aptos"/>
              </a:rPr>
              <a:t>BROADCAST</a:t>
            </a:r>
          </a:p>
        </p:txBody>
      </p:sp>
      <p:sp>
        <p:nvSpPr>
          <p:cNvPr id="20" name="">
            <a:extLst xmlns:a="http://schemas.openxmlformats.org/drawingml/2006/main">
              <a:ext uri="{FF2B5EF4-FFF2-40B4-BE49-F238E27FC236}">
                <a16:creationId xmlns:a16="http://schemas.microsoft.com/office/drawing/2014/main" id="{D4B15D31-E1B9-41FB-AB53-697EEFBE761D}"/>
              </a:ext>
            </a:extLst>
          </p:cNvPr>
          <p:cNvSpPr>
            <a:spLocks xmlns:a="http://schemas.openxmlformats.org/drawingml/2006/main" noGrp="1"/>
          </p:cNvSpPr>
          <p:nvPr/>
        </p:nvSpPr>
        <p:spPr>
          <a:xfrm xmlns:a="http://schemas.openxmlformats.org/drawingml/2006/main">
            <a:off x="8172450" y="2628900"/>
            <a:ext cx="2628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0B1020"/>
                </a:solidFill>
                <a:latin typeface="Aptos"/>
                <a:ea typeface="Aptos"/>
                <a:cs typeface="Aptos"/>
              </a:defRPr>
            </a:pPr>
            <a:r>
              <a:rPr sz="2250" b="1">
                <a:solidFill>
                  <a:srgbClr val="0B1020"/>
                </a:solidFill>
                <a:latin typeface="Aptos"/>
                <a:ea typeface="Aptos"/>
                <a:cs typeface="Aptos"/>
              </a:rPr>
              <a:t>Aᵢ → every step</a:t>
            </a:r>
          </a:p>
        </p:txBody>
      </p:sp>
      <p:sp>
        <p:nvSpPr>
          <p:cNvPr id="21" name="">
            <a:extLst xmlns:a="http://schemas.openxmlformats.org/drawingml/2006/main">
              <a:ext uri="{FF2B5EF4-FFF2-40B4-BE49-F238E27FC236}">
                <a16:creationId xmlns:a16="http://schemas.microsoft.com/office/drawing/2014/main" id="{D9879D54-2EE7-49EA-A1AF-C568A9A4C606}"/>
              </a:ext>
            </a:extLst>
          </p:cNvPr>
          <p:cNvSpPr>
            <a:spLocks xmlns:a="http://schemas.openxmlformats.org/drawingml/2006/main" noGrp="1"/>
          </p:cNvSpPr>
          <p:nvPr/>
        </p:nvSpPr>
        <p:spPr>
          <a:xfrm xmlns:a="http://schemas.openxmlformats.org/drawingml/2006/main">
            <a:off x="8172450" y="3333750"/>
            <a:ext cx="26289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22" name="">
            <a:extLst xmlns:a="http://schemas.openxmlformats.org/drawingml/2006/main">
              <a:ext uri="{FF2B5EF4-FFF2-40B4-BE49-F238E27FC236}">
                <a16:creationId xmlns:a16="http://schemas.microsoft.com/office/drawing/2014/main" id="{43CD6C1A-33CA-4A96-AAF5-966B95939D01}"/>
              </a:ext>
            </a:extLst>
          </p:cNvPr>
          <p:cNvSpPr>
            <a:spLocks xmlns:a="http://schemas.openxmlformats.org/drawingml/2006/main" noGrp="1"/>
          </p:cNvSpPr>
          <p:nvPr/>
        </p:nvSpPr>
        <p:spPr>
          <a:xfrm xmlns:a="http://schemas.openxmlformats.org/drawingml/2006/main">
            <a:off x="8172450" y="3600450"/>
            <a:ext cx="26289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5C677D"/>
                </a:solidFill>
                <a:latin typeface="Aptos"/>
                <a:ea typeface="Aptos"/>
                <a:cs typeface="Aptos"/>
              </a:defRPr>
            </a:pPr>
            <a:r>
              <a:rPr sz="1350" b="0">
                <a:solidFill>
                  <a:srgbClr val="5C677D"/>
                </a:solidFill>
                <a:latin typeface="Aptos"/>
                <a:ea typeface="Aptos"/>
                <a:cs typeface="Aptos"/>
              </a:rPr>
              <a:t>The same sequence-level signal can move pivotal and routine decisions together.</a:t>
            </a:r>
          </a:p>
        </p:txBody>
      </p:sp>
      <p:sp>
        <p:nvSpPr>
          <p:cNvPr id="23" name="">
            <a:extLst xmlns:a="http://schemas.openxmlformats.org/drawingml/2006/main">
              <a:ext uri="{FF2B5EF4-FFF2-40B4-BE49-F238E27FC236}">
                <a16:creationId xmlns:a16="http://schemas.microsoft.com/office/drawing/2014/main" id="{8D7AAFC3-0D82-42D9-91A1-6A4B9704C19C}"/>
              </a:ext>
            </a:extLst>
          </p:cNvPr>
          <p:cNvSpPr>
            <a:spLocks xmlns:a="http://schemas.openxmlformats.org/drawingml/2006/main" noGrp="1"/>
          </p:cNvSpPr>
          <p:nvPr/>
        </p:nvSpPr>
        <p:spPr>
          <a:xfrm xmlns:a="http://schemas.openxmlformats.org/drawingml/2006/main">
            <a:off x="590550" y="5276850"/>
            <a:ext cx="11010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16324F"/>
                </a:solidFill>
                <a:latin typeface="Aptos"/>
                <a:ea typeface="Aptos"/>
                <a:cs typeface="Aptos"/>
              </a:defRPr>
            </a:pPr>
            <a:r>
              <a:rPr sz="1500" b="1">
                <a:solidFill>
                  <a:srgbClr val="16324F"/>
                </a:solidFill>
                <a:latin typeface="Aptos"/>
                <a:ea typeface="Aptos"/>
                <a:cs typeface="Aptos"/>
              </a:rPr>
              <a:t>Our boundary: this is an associative credit-allocation study — not a causal credit proof.</a:t>
            </a:r>
          </a:p>
        </p:txBody>
      </p:sp>
      <p:sp>
        <p:nvSpPr>
          <p:cNvPr id="24" name="">
            <a:extLst xmlns:a="http://schemas.openxmlformats.org/drawingml/2006/main">
              <a:ext uri="{FF2B5EF4-FFF2-40B4-BE49-F238E27FC236}">
                <a16:creationId xmlns:a16="http://schemas.microsoft.com/office/drawing/2014/main" id="{D4F9E2AD-DB05-4E76-B3A7-B9C705B71EB5}"/>
              </a:ext>
            </a:extLst>
          </p:cNvPr>
          <p:cNvSpPr>
            <a:spLocks xmlns:a="http://schemas.openxmlformats.org/drawingml/2006/main" noGrp="1"/>
          </p:cNvSpPr>
          <p:nvPr/>
        </p:nvSpPr>
        <p:spPr>
          <a:xfrm xmlns:a="http://schemas.openxmlformats.org/drawingml/2006/main">
            <a:off x="590550" y="65151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8B95A8"/>
                </a:solidFill>
                <a:latin typeface="Aptos"/>
                <a:ea typeface="Aptos"/>
                <a:cs typeface="Aptos"/>
              </a:defRPr>
            </a:pPr>
            <a:r>
              <a:rPr sz="750" b="1">
                <a:solidFill>
                  <a:srgbClr val="8B95A8"/>
                </a:solidFill>
                <a:latin typeface="Aptos"/>
                <a:ea typeface="Aptos"/>
                <a:cs typeface="Aptos"/>
              </a:rPr>
              <a:t>TEAM PRISM  |  RC-OMD WORKSHOP</a:t>
            </a:r>
          </a:p>
        </p:txBody>
      </p:sp>
    </p:spTree>
    <p:extLst>
      <p:ext uri="{BB962C8B-B14F-4D97-AF65-F5344CB8AC3E}">
        <p14:creationId xmlns:p14="http://schemas.microsoft.com/office/powerpoint/2010/main" val="267924443"/>
      </p:ext>
    </p:extLst>
  </p:cSld>
</p:sld>
</file>

<file path=ppt/slides/slide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1097996-8C4F-4810-9B8B-9FE4FAA2C8D7}"/>
              </a:ext>
            </a:extLst>
          </p:cNvPr>
          <p:cNvSpPr>
            <a:spLocks xmlns:a="http://schemas.openxmlformats.org/drawingml/2006/main" noGrp="1"/>
          </p:cNvSpPr>
          <p:nvPr/>
        </p:nvSpPr>
        <p:spPr>
          <a:xfrm xmlns:a="http://schemas.openxmlformats.org/drawingml/2006/main">
            <a:off x="590550" y="3619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87F72"/>
                </a:solidFill>
                <a:latin typeface="Aptos"/>
                <a:ea typeface="Aptos"/>
                <a:cs typeface="Aptos"/>
              </a:defRPr>
            </a:pPr>
            <a:r>
              <a:rPr sz="1050" b="1">
                <a:solidFill>
                  <a:srgbClr val="087F72"/>
                </a:solidFill>
                <a:latin typeface="Aptos"/>
                <a:ea typeface="Aptos"/>
                <a:cs typeface="Aptos"/>
              </a:rPr>
              <a:t>03</a:t>
            </a:r>
          </a:p>
        </p:txBody>
      </p:sp>
      <p:sp>
        <p:nvSpPr>
          <p:cNvPr id="2" name="">
            <a:extLst xmlns:a="http://schemas.openxmlformats.org/drawingml/2006/main">
              <a:ext uri="{FF2B5EF4-FFF2-40B4-BE49-F238E27FC236}">
                <a16:creationId xmlns:a16="http://schemas.microsoft.com/office/drawing/2014/main" id="{A2802D11-088D-4411-879D-493D86E7963A}"/>
              </a:ext>
            </a:extLst>
          </p:cNvPr>
          <p:cNvSpPr>
            <a:spLocks xmlns:a="http://schemas.openxmlformats.org/drawingml/2006/main" noGrp="1"/>
          </p:cNvSpPr>
          <p:nvPr/>
        </p:nvSpPr>
        <p:spPr>
          <a:xfrm xmlns:a="http://schemas.openxmlformats.org/drawingml/2006/main">
            <a:off x="1066800" y="36195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B95A8"/>
                </a:solidFill>
                <a:latin typeface="Aptos"/>
                <a:ea typeface="Aptos"/>
                <a:cs typeface="Aptos"/>
              </a:defRPr>
            </a:pPr>
            <a:r>
              <a:rPr sz="975" b="1">
                <a:solidFill>
                  <a:srgbClr val="8B95A8"/>
                </a:solidFill>
                <a:latin typeface="Aptos"/>
                <a:ea typeface="Aptos"/>
                <a:cs typeface="Aptos"/>
              </a:rPr>
              <a:t>METHOD</a:t>
            </a:r>
          </a:p>
        </p:txBody>
      </p:sp>
      <p:sp>
        <p:nvSpPr>
          <p:cNvPr id="3" name="">
            <a:extLst xmlns:a="http://schemas.openxmlformats.org/drawingml/2006/main">
              <a:ext uri="{FF2B5EF4-FFF2-40B4-BE49-F238E27FC236}">
                <a16:creationId xmlns:a16="http://schemas.microsoft.com/office/drawing/2014/main" id="{EAE71164-06F4-4B58-AFCE-E57F11D4DC73}"/>
              </a:ext>
            </a:extLst>
          </p:cNvPr>
          <p:cNvSpPr>
            <a:spLocks xmlns:a="http://schemas.openxmlformats.org/drawingml/2006/main" noGrp="1"/>
          </p:cNvSpPr>
          <p:nvPr/>
        </p:nvSpPr>
        <p:spPr>
          <a:xfrm xmlns:a="http://schemas.openxmlformats.org/drawingml/2006/main">
            <a:off x="590550" y="742950"/>
            <a:ext cx="11010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0B1020"/>
                </a:solidFill>
                <a:latin typeface="Aptos"/>
                <a:ea typeface="Aptos"/>
                <a:cs typeface="Aptos"/>
              </a:defRPr>
            </a:pPr>
            <a:r>
              <a:rPr sz="2700" b="1">
                <a:solidFill>
                  <a:srgbClr val="0B1020"/>
                </a:solidFill>
                <a:latin typeface="Aptos"/>
                <a:ea typeface="Aptos"/>
                <a:cs typeface="Aptos"/>
              </a:rPr>
              <a:t>RC-OMD separates direction from permitted movement</a:t>
            </a:r>
          </a:p>
        </p:txBody>
      </p:sp>
      <p:sp>
        <p:nvSpPr>
          <p:cNvPr id="4" name="">
            <a:extLst xmlns:a="http://schemas.openxmlformats.org/drawingml/2006/main">
              <a:ext uri="{FF2B5EF4-FFF2-40B4-BE49-F238E27FC236}">
                <a16:creationId xmlns:a16="http://schemas.microsoft.com/office/drawing/2014/main" id="{279737DE-82A9-487F-867E-0AB2A178A7C0}"/>
              </a:ext>
            </a:extLst>
          </p:cNvPr>
          <p:cNvSpPr>
            <a:spLocks xmlns:a="http://schemas.openxmlformats.org/drawingml/2006/main" noGrp="1"/>
          </p:cNvSpPr>
          <p:nvPr/>
        </p:nvSpPr>
        <p:spPr>
          <a:xfrm xmlns:a="http://schemas.openxmlformats.org/drawingml/2006/main">
            <a:off x="590550" y="1438275"/>
            <a:ext cx="110109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4D04F795-F5A1-413C-B100-E1700F928BF0}"/>
              </a:ext>
            </a:extLst>
          </p:cNvPr>
          <p:cNvSpPr>
            <a:spLocks xmlns:a="http://schemas.openxmlformats.org/drawingml/2006/main" noGrp="1"/>
          </p:cNvSpPr>
          <p:nvPr/>
        </p:nvSpPr>
        <p:spPr>
          <a:xfrm xmlns:a="http://schemas.openxmlformats.org/drawingml/2006/main">
            <a:off x="590550" y="1771650"/>
            <a:ext cx="11010900" cy="1752600"/>
          </a:xfrm>
          <a:prstGeom xmlns:a="http://schemas.openxmlformats.org/drawingml/2006/main" prst="roundRect">
            <a:avLst>
              <a:gd name="adj" fmla="val 6522"/>
            </a:avLst>
          </a:prstGeom>
          <a:solidFill xmlns:a="http://schemas.openxmlformats.org/drawingml/2006/main">
            <a:srgbClr val="16324F"/>
          </a:solidFill>
          <a:ln xmlns:a="http://schemas.openxmlformats.org/drawingml/2006/main" w="9525">
            <a:solidFill>
              <a:srgbClr val="16324F"/>
            </a:solidFill>
            <a:prstDash val="solid"/>
          </a:ln>
        </p:spPr>
      </p:sp>
      <p:sp>
        <p:nvSpPr>
          <p:cNvPr id="6" name="">
            <a:extLst xmlns:a="http://schemas.openxmlformats.org/drawingml/2006/main">
              <a:ext uri="{FF2B5EF4-FFF2-40B4-BE49-F238E27FC236}">
                <a16:creationId xmlns:a16="http://schemas.microsoft.com/office/drawing/2014/main" id="{0793D8D6-B3C9-4B62-B468-1FCA0CC91221}"/>
              </a:ext>
            </a:extLst>
          </p:cNvPr>
          <p:cNvSpPr>
            <a:spLocks xmlns:a="http://schemas.openxmlformats.org/drawingml/2006/main" noGrp="1"/>
          </p:cNvSpPr>
          <p:nvPr/>
        </p:nvSpPr>
        <p:spPr>
          <a:xfrm xmlns:a="http://schemas.openxmlformats.org/drawingml/2006/main">
            <a:off x="876300" y="20955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FFFFFF"/>
                </a:solidFill>
                <a:latin typeface="Aptos"/>
                <a:ea typeface="Aptos"/>
                <a:cs typeface="Aptos"/>
              </a:defRPr>
            </a:pPr>
            <a:r>
              <a:rPr sz="1875" b="1">
                <a:solidFill>
                  <a:srgbClr val="FFFFFF"/>
                </a:solidFill>
                <a:latin typeface="Aptos"/>
                <a:ea typeface="Aptos"/>
                <a:cs typeface="Aptos"/>
              </a:rPr>
              <a:t>credit estimate ĉₜ,ₖ</a:t>
            </a:r>
          </a:p>
        </p:txBody>
      </p:sp>
      <p:sp>
        <p:nvSpPr>
          <p:cNvPr id="7" name="">
            <a:extLst xmlns:a="http://schemas.openxmlformats.org/drawingml/2006/main">
              <a:ext uri="{FF2B5EF4-FFF2-40B4-BE49-F238E27FC236}">
                <a16:creationId xmlns:a16="http://schemas.microsoft.com/office/drawing/2014/main" id="{329B5DE0-C7D1-4AE4-883A-B7871B240AB0}"/>
              </a:ext>
            </a:extLst>
          </p:cNvPr>
          <p:cNvSpPr>
            <a:spLocks xmlns:a="http://schemas.openxmlformats.org/drawingml/2006/main" noGrp="1"/>
          </p:cNvSpPr>
          <p:nvPr/>
        </p:nvSpPr>
        <p:spPr>
          <a:xfrm xmlns:a="http://schemas.openxmlformats.org/drawingml/2006/main">
            <a:off x="876300" y="25908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BFD1E3"/>
                </a:solidFill>
                <a:latin typeface="Aptos"/>
                <a:ea typeface="Aptos"/>
                <a:cs typeface="Aptos"/>
              </a:defRPr>
            </a:pPr>
            <a:r>
              <a:rPr sz="1200" b="1">
                <a:solidFill>
                  <a:srgbClr val="BFD1E3"/>
                </a:solidFill>
                <a:latin typeface="Aptos"/>
                <a:ea typeface="Aptos"/>
                <a:cs typeface="Aptos"/>
              </a:rPr>
              <a:t>chooses WHERE</a:t>
            </a:r>
          </a:p>
        </p:txBody>
      </p:sp>
      <p:sp>
        <p:nvSpPr>
          <p:cNvPr id="8" name="">
            <a:extLst xmlns:a="http://schemas.openxmlformats.org/drawingml/2006/main">
              <a:ext uri="{FF2B5EF4-FFF2-40B4-BE49-F238E27FC236}">
                <a16:creationId xmlns:a16="http://schemas.microsoft.com/office/drawing/2014/main" id="{E6431BE5-21FD-4DB3-A935-2A2E4E6145CA}"/>
              </a:ext>
            </a:extLst>
          </p:cNvPr>
          <p:cNvSpPr>
            <a:spLocks xmlns:a="http://schemas.openxmlformats.org/drawingml/2006/main" noGrp="1"/>
          </p:cNvSpPr>
          <p:nvPr/>
        </p:nvSpPr>
        <p:spPr>
          <a:xfrm xmlns:a="http://schemas.openxmlformats.org/drawingml/2006/main">
            <a:off x="3600450" y="2343150"/>
            <a:ext cx="438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1">
                <a:solidFill>
                  <a:srgbClr val="20BFA9"/>
                </a:solidFill>
                <a:latin typeface="Aptos"/>
                <a:ea typeface="Aptos"/>
                <a:cs typeface="Aptos"/>
              </a:defRPr>
            </a:pPr>
            <a:r>
              <a:rPr sz="3000" b="1">
                <a:solidFill>
                  <a:srgbClr val="20BFA9"/>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C0160696-CC02-41AB-8316-7B1523BA68DF}"/>
              </a:ext>
            </a:extLst>
          </p:cNvPr>
          <p:cNvSpPr>
            <a:spLocks xmlns:a="http://schemas.openxmlformats.org/drawingml/2006/main" noGrp="1"/>
          </p:cNvSpPr>
          <p:nvPr/>
        </p:nvSpPr>
        <p:spPr>
          <a:xfrm xmlns:a="http://schemas.openxmlformats.org/drawingml/2006/main">
            <a:off x="4171950" y="20955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FFFFFF"/>
                </a:solidFill>
                <a:latin typeface="Aptos"/>
                <a:ea typeface="Aptos"/>
                <a:cs typeface="Aptos"/>
              </a:defRPr>
            </a:pPr>
            <a:r>
              <a:rPr sz="1875" b="1">
                <a:solidFill>
                  <a:srgbClr val="FFFFFF"/>
                </a:solidFill>
                <a:latin typeface="Aptos"/>
                <a:ea typeface="Aptos"/>
                <a:cs typeface="Aptos"/>
              </a:rPr>
              <a:t>reliability qₜ,ₖ</a:t>
            </a:r>
          </a:p>
        </p:txBody>
      </p:sp>
      <p:sp>
        <p:nvSpPr>
          <p:cNvPr id="10" name="">
            <a:extLst xmlns:a="http://schemas.openxmlformats.org/drawingml/2006/main">
              <a:ext uri="{FF2B5EF4-FFF2-40B4-BE49-F238E27FC236}">
                <a16:creationId xmlns:a16="http://schemas.microsoft.com/office/drawing/2014/main" id="{79D14540-7874-4354-B64F-CDA002E4EF70}"/>
              </a:ext>
            </a:extLst>
          </p:cNvPr>
          <p:cNvSpPr>
            <a:spLocks xmlns:a="http://schemas.openxmlformats.org/drawingml/2006/main" noGrp="1"/>
          </p:cNvSpPr>
          <p:nvPr/>
        </p:nvSpPr>
        <p:spPr>
          <a:xfrm xmlns:a="http://schemas.openxmlformats.org/drawingml/2006/main">
            <a:off x="4171950" y="25908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BFD1E3"/>
                </a:solidFill>
                <a:latin typeface="Aptos"/>
                <a:ea typeface="Aptos"/>
                <a:cs typeface="Aptos"/>
              </a:defRPr>
            </a:pPr>
            <a:r>
              <a:rPr sz="1200" b="1">
                <a:solidFill>
                  <a:srgbClr val="BFD1E3"/>
                </a:solidFill>
                <a:latin typeface="Aptos"/>
                <a:ea typeface="Aptos"/>
                <a:cs typeface="Aptos"/>
              </a:rPr>
              <a:t>chooses HOW FAR</a:t>
            </a:r>
          </a:p>
        </p:txBody>
      </p:sp>
      <p:sp>
        <p:nvSpPr>
          <p:cNvPr id="11" name="">
            <a:extLst xmlns:a="http://schemas.openxmlformats.org/drawingml/2006/main">
              <a:ext uri="{FF2B5EF4-FFF2-40B4-BE49-F238E27FC236}">
                <a16:creationId xmlns:a16="http://schemas.microsoft.com/office/drawing/2014/main" id="{BA54F079-6C4B-456D-BC65-E1D5F2552995}"/>
              </a:ext>
            </a:extLst>
          </p:cNvPr>
          <p:cNvSpPr>
            <a:spLocks xmlns:a="http://schemas.openxmlformats.org/drawingml/2006/main" noGrp="1"/>
          </p:cNvSpPr>
          <p:nvPr/>
        </p:nvSpPr>
        <p:spPr>
          <a:xfrm xmlns:a="http://schemas.openxmlformats.org/drawingml/2006/main">
            <a:off x="6800850" y="2305050"/>
            <a:ext cx="533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1">
                <a:solidFill>
                  <a:srgbClr val="F0B35A"/>
                </a:solidFill>
                <a:latin typeface="Aptos"/>
                <a:ea typeface="Aptos"/>
                <a:cs typeface="Aptos"/>
              </a:defRPr>
            </a:pPr>
            <a:r>
              <a:rPr sz="3000" b="1">
                <a:solidFill>
                  <a:srgbClr val="F0B35A"/>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3834A7E1-5FAF-4D66-ADB1-994BF452C81F}"/>
              </a:ext>
            </a:extLst>
          </p:cNvPr>
          <p:cNvSpPr>
            <a:spLocks xmlns:a="http://schemas.openxmlformats.org/drawingml/2006/main" noGrp="1"/>
          </p:cNvSpPr>
          <p:nvPr/>
        </p:nvSpPr>
        <p:spPr>
          <a:xfrm xmlns:a="http://schemas.openxmlformats.org/drawingml/2006/main">
            <a:off x="7581900" y="2095500"/>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FFFFFF"/>
                </a:solidFill>
                <a:latin typeface="Aptos"/>
                <a:ea typeface="Aptos"/>
                <a:cs typeface="Aptos"/>
              </a:defRPr>
            </a:pPr>
            <a:r>
              <a:rPr sz="2175" b="1">
                <a:solidFill>
                  <a:srgbClr val="FFFFFF"/>
                </a:solidFill>
                <a:latin typeface="Aptos"/>
                <a:ea typeface="Aptos"/>
                <a:cs typeface="Aptos"/>
              </a:rPr>
              <a:t>ηₜ,ₖ = η₀ f(qₜ,ₖ)</a:t>
            </a:r>
          </a:p>
        </p:txBody>
      </p:sp>
      <p:sp>
        <p:nvSpPr>
          <p:cNvPr id="13" name="">
            <a:extLst xmlns:a="http://schemas.openxmlformats.org/drawingml/2006/main">
              <a:ext uri="{FF2B5EF4-FFF2-40B4-BE49-F238E27FC236}">
                <a16:creationId xmlns:a16="http://schemas.microsoft.com/office/drawing/2014/main" id="{7E666596-8561-4667-ABDB-CD823E9112CF}"/>
              </a:ext>
            </a:extLst>
          </p:cNvPr>
          <p:cNvSpPr>
            <a:spLocks xmlns:a="http://schemas.openxmlformats.org/drawingml/2006/main" noGrp="1"/>
          </p:cNvSpPr>
          <p:nvPr/>
        </p:nvSpPr>
        <p:spPr>
          <a:xfrm xmlns:a="http://schemas.openxmlformats.org/drawingml/2006/main">
            <a:off x="7581900" y="2590800"/>
            <a:ext cx="331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BFD1E3"/>
                </a:solidFill>
                <a:latin typeface="Aptos"/>
                <a:ea typeface="Aptos"/>
                <a:cs typeface="Aptos"/>
              </a:defRPr>
            </a:pPr>
            <a:r>
              <a:rPr sz="1200" b="1">
                <a:solidFill>
                  <a:srgbClr val="BFD1E3"/>
                </a:solidFill>
                <a:latin typeface="Aptos"/>
                <a:ea typeface="Aptos"/>
                <a:cs typeface="Aptos"/>
              </a:rPr>
              <a:t>local KL / step-size budget</a:t>
            </a:r>
          </a:p>
        </p:txBody>
      </p:sp>
      <p:sp>
        <p:nvSpPr>
          <p:cNvPr id="14" name="">
            <a:extLst xmlns:a="http://schemas.openxmlformats.org/drawingml/2006/main">
              <a:ext uri="{FF2B5EF4-FFF2-40B4-BE49-F238E27FC236}">
                <a16:creationId xmlns:a16="http://schemas.microsoft.com/office/drawing/2014/main" id="{A5C050BF-ED4F-4168-9329-B3FEAA5AE05D}"/>
              </a:ext>
            </a:extLst>
          </p:cNvPr>
          <p:cNvSpPr>
            <a:spLocks xmlns:a="http://schemas.openxmlformats.org/drawingml/2006/main" noGrp="1"/>
          </p:cNvSpPr>
          <p:nvPr/>
        </p:nvSpPr>
        <p:spPr>
          <a:xfrm xmlns:a="http://schemas.openxmlformats.org/drawingml/2006/main">
            <a:off x="590550" y="3905250"/>
            <a:ext cx="3467100" cy="1638300"/>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9525">
            <a:solidFill>
              <a:srgbClr val="D9E0EA"/>
            </a:solidFill>
            <a:prstDash val="solid"/>
          </a:ln>
        </p:spPr>
      </p:sp>
      <p:sp>
        <p:nvSpPr>
          <p:cNvPr id="15" name="">
            <a:extLst xmlns:a="http://schemas.openxmlformats.org/drawingml/2006/main">
              <a:ext uri="{FF2B5EF4-FFF2-40B4-BE49-F238E27FC236}">
                <a16:creationId xmlns:a16="http://schemas.microsoft.com/office/drawing/2014/main" id="{59299C32-742F-448F-BCA6-7D38A58A63EA}"/>
              </a:ext>
            </a:extLst>
          </p:cNvPr>
          <p:cNvSpPr>
            <a:spLocks xmlns:a="http://schemas.openxmlformats.org/drawingml/2006/main" noGrp="1"/>
          </p:cNvSpPr>
          <p:nvPr/>
        </p:nvSpPr>
        <p:spPr>
          <a:xfrm xmlns:a="http://schemas.openxmlformats.org/drawingml/2006/main">
            <a:off x="800100" y="41148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F6FED"/>
                </a:solidFill>
                <a:latin typeface="Aptos"/>
                <a:ea typeface="Aptos"/>
                <a:cs typeface="Aptos"/>
              </a:defRPr>
            </a:pPr>
            <a:r>
              <a:rPr sz="1125" b="1">
                <a:solidFill>
                  <a:srgbClr val="2F6FED"/>
                </a:solidFill>
                <a:latin typeface="Aptos"/>
                <a:ea typeface="Aptos"/>
                <a:cs typeface="Aptos"/>
              </a:rPr>
              <a:t>1  ONLINE RELIABILITY</a:t>
            </a:r>
          </a:p>
        </p:txBody>
      </p:sp>
      <p:sp>
        <p:nvSpPr>
          <p:cNvPr id="16" name="">
            <a:extLst xmlns:a="http://schemas.openxmlformats.org/drawingml/2006/main">
              <a:ext uri="{FF2B5EF4-FFF2-40B4-BE49-F238E27FC236}">
                <a16:creationId xmlns:a16="http://schemas.microsoft.com/office/drawing/2014/main" id="{52C68256-EBE1-4F39-AFF1-BD44E53B0773}"/>
              </a:ext>
            </a:extLst>
          </p:cNvPr>
          <p:cNvSpPr>
            <a:spLocks xmlns:a="http://schemas.openxmlformats.org/drawingml/2006/main" noGrp="1"/>
          </p:cNvSpPr>
          <p:nvPr/>
        </p:nvSpPr>
        <p:spPr>
          <a:xfrm xmlns:a="http://schemas.openxmlformats.org/drawingml/2006/main">
            <a:off x="800100" y="4552950"/>
            <a:ext cx="304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5C677D"/>
                </a:solidFill>
                <a:latin typeface="Aptos"/>
                <a:ea typeface="Aptos"/>
                <a:cs typeface="Aptos"/>
              </a:defRPr>
            </a:pPr>
            <a:r>
              <a:rPr sz="1275" b="0">
                <a:solidFill>
                  <a:srgbClr val="5C677D"/>
                </a:solidFill>
                <a:latin typeface="Aptos"/>
                <a:ea typeface="Aptos"/>
                <a:cs typeface="Aptos"/>
              </a:rPr>
              <a:t>A persistent standardized score updates after each grouped rollout.</a:t>
            </a:r>
          </a:p>
        </p:txBody>
      </p:sp>
      <p:sp>
        <p:nvSpPr>
          <p:cNvPr id="17" name="">
            <a:extLst xmlns:a="http://schemas.openxmlformats.org/drawingml/2006/main">
              <a:ext uri="{FF2B5EF4-FFF2-40B4-BE49-F238E27FC236}">
                <a16:creationId xmlns:a16="http://schemas.microsoft.com/office/drawing/2014/main" id="{2C52ABBE-3F4D-48BF-8C96-E611358CB6AA}"/>
              </a:ext>
            </a:extLst>
          </p:cNvPr>
          <p:cNvSpPr>
            <a:spLocks xmlns:a="http://schemas.openxmlformats.org/drawingml/2006/main" noGrp="1"/>
          </p:cNvSpPr>
          <p:nvPr/>
        </p:nvSpPr>
        <p:spPr>
          <a:xfrm xmlns:a="http://schemas.openxmlformats.org/drawingml/2006/main">
            <a:off x="4362450" y="3905250"/>
            <a:ext cx="3467100" cy="1638300"/>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9525">
            <a:solidFill>
              <a:srgbClr val="D9E0EA"/>
            </a:solidFill>
            <a:prstDash val="solid"/>
          </a:ln>
        </p:spPr>
      </p:sp>
      <p:sp>
        <p:nvSpPr>
          <p:cNvPr id="18" name="">
            <a:extLst xmlns:a="http://schemas.openxmlformats.org/drawingml/2006/main">
              <a:ext uri="{FF2B5EF4-FFF2-40B4-BE49-F238E27FC236}">
                <a16:creationId xmlns:a16="http://schemas.microsoft.com/office/drawing/2014/main" id="{E774E92A-C0F2-483B-A502-51D0626A52E9}"/>
              </a:ext>
            </a:extLst>
          </p:cNvPr>
          <p:cNvSpPr>
            <a:spLocks xmlns:a="http://schemas.openxmlformats.org/drawingml/2006/main" noGrp="1"/>
          </p:cNvSpPr>
          <p:nvPr/>
        </p:nvSpPr>
        <p:spPr>
          <a:xfrm xmlns:a="http://schemas.openxmlformats.org/drawingml/2006/main">
            <a:off x="4572000" y="41148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087F72"/>
                </a:solidFill>
                <a:latin typeface="Aptos"/>
                <a:ea typeface="Aptos"/>
                <a:cs typeface="Aptos"/>
              </a:defRPr>
            </a:pPr>
            <a:r>
              <a:rPr sz="1125" b="1">
                <a:solidFill>
                  <a:srgbClr val="087F72"/>
                </a:solidFill>
                <a:latin typeface="Aptos"/>
                <a:ea typeface="Aptos"/>
                <a:cs typeface="Aptos"/>
              </a:rPr>
              <a:t>2  LOCAL GEOMETRY</a:t>
            </a:r>
          </a:p>
        </p:txBody>
      </p:sp>
      <p:sp>
        <p:nvSpPr>
          <p:cNvPr id="19" name="">
            <a:extLst xmlns:a="http://schemas.openxmlformats.org/drawingml/2006/main">
              <a:ext uri="{FF2B5EF4-FFF2-40B4-BE49-F238E27FC236}">
                <a16:creationId xmlns:a16="http://schemas.microsoft.com/office/drawing/2014/main" id="{D83D4B36-510C-48B7-BB18-D93B1CA26DF1}"/>
              </a:ext>
            </a:extLst>
          </p:cNvPr>
          <p:cNvSpPr>
            <a:spLocks xmlns:a="http://schemas.openxmlformats.org/drawingml/2006/main" noGrp="1"/>
          </p:cNvSpPr>
          <p:nvPr/>
        </p:nvSpPr>
        <p:spPr>
          <a:xfrm xmlns:a="http://schemas.openxmlformats.org/drawingml/2006/main">
            <a:off x="4572000" y="4552950"/>
            <a:ext cx="304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5C677D"/>
                </a:solidFill>
                <a:latin typeface="Aptos"/>
                <a:ea typeface="Aptos"/>
                <a:cs typeface="Aptos"/>
              </a:defRPr>
            </a:pPr>
            <a:r>
              <a:rPr sz="1275" b="0">
                <a:solidFill>
                  <a:srgbClr val="5C677D"/>
                </a:solidFill>
                <a:latin typeface="Aptos"/>
                <a:ea typeface="Aptos"/>
                <a:cs typeface="Aptos"/>
              </a:rPr>
              <a:t>Reliable evidence permits larger movement; weak evidence stays conservative.</a:t>
            </a:r>
          </a:p>
        </p:txBody>
      </p:sp>
      <p:sp>
        <p:nvSpPr>
          <p:cNvPr id="20" name="">
            <a:extLst xmlns:a="http://schemas.openxmlformats.org/drawingml/2006/main">
              <a:ext uri="{FF2B5EF4-FFF2-40B4-BE49-F238E27FC236}">
                <a16:creationId xmlns:a16="http://schemas.microsoft.com/office/drawing/2014/main" id="{2AE2F328-A948-46FE-BB23-DAEEBFF5E22E}"/>
              </a:ext>
            </a:extLst>
          </p:cNvPr>
          <p:cNvSpPr>
            <a:spLocks xmlns:a="http://schemas.openxmlformats.org/drawingml/2006/main" noGrp="1"/>
          </p:cNvSpPr>
          <p:nvPr/>
        </p:nvSpPr>
        <p:spPr>
          <a:xfrm xmlns:a="http://schemas.openxmlformats.org/drawingml/2006/main">
            <a:off x="8134350" y="3905250"/>
            <a:ext cx="3467100" cy="1638300"/>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9525">
            <a:solidFill>
              <a:srgbClr val="D9E0EA"/>
            </a:solidFill>
            <a:prstDash val="solid"/>
          </a:ln>
        </p:spPr>
      </p:sp>
      <p:sp>
        <p:nvSpPr>
          <p:cNvPr id="21" name="">
            <a:extLst xmlns:a="http://schemas.openxmlformats.org/drawingml/2006/main">
              <a:ext uri="{FF2B5EF4-FFF2-40B4-BE49-F238E27FC236}">
                <a16:creationId xmlns:a16="http://schemas.microsoft.com/office/drawing/2014/main" id="{378A7514-C226-4565-9F36-BF0FAC5046D1}"/>
              </a:ext>
            </a:extLst>
          </p:cNvPr>
          <p:cNvSpPr>
            <a:spLocks xmlns:a="http://schemas.openxmlformats.org/drawingml/2006/main" noGrp="1"/>
          </p:cNvSpPr>
          <p:nvPr/>
        </p:nvSpPr>
        <p:spPr>
          <a:xfrm xmlns:a="http://schemas.openxmlformats.org/drawingml/2006/main">
            <a:off x="8343900" y="41148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F6FED"/>
                </a:solidFill>
                <a:latin typeface="Aptos"/>
                <a:ea typeface="Aptos"/>
                <a:cs typeface="Aptos"/>
              </a:defRPr>
            </a:pPr>
            <a:r>
              <a:rPr sz="1125" b="1">
                <a:solidFill>
                  <a:srgbClr val="2F6FED"/>
                </a:solidFill>
                <a:latin typeface="Aptos"/>
                <a:ea typeface="Aptos"/>
                <a:cs typeface="Aptos"/>
              </a:rPr>
              <a:t>3  EVALUATION</a:t>
            </a:r>
          </a:p>
        </p:txBody>
      </p:sp>
      <p:sp>
        <p:nvSpPr>
          <p:cNvPr id="22" name="">
            <a:extLst xmlns:a="http://schemas.openxmlformats.org/drawingml/2006/main">
              <a:ext uri="{FF2B5EF4-FFF2-40B4-BE49-F238E27FC236}">
                <a16:creationId xmlns:a16="http://schemas.microsoft.com/office/drawing/2014/main" id="{F1776559-8F63-49D6-8787-B96EAD4B0D8B}"/>
              </a:ext>
            </a:extLst>
          </p:cNvPr>
          <p:cNvSpPr>
            <a:spLocks xmlns:a="http://schemas.openxmlformats.org/drawingml/2006/main" noGrp="1"/>
          </p:cNvSpPr>
          <p:nvPr/>
        </p:nvSpPr>
        <p:spPr>
          <a:xfrm xmlns:a="http://schemas.openxmlformats.org/drawingml/2006/main">
            <a:off x="8343900" y="4552950"/>
            <a:ext cx="304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5C677D"/>
                </a:solidFill>
                <a:latin typeface="Aptos"/>
                <a:ea typeface="Aptos"/>
                <a:cs typeface="Aptos"/>
              </a:defRPr>
            </a:pPr>
            <a:r>
              <a:rPr sz="1275" b="0">
                <a:solidFill>
                  <a:srgbClr val="5C677D"/>
                </a:solidFill>
                <a:latin typeface="Aptos"/>
                <a:ea typeface="Aptos"/>
                <a:cs typeface="Aptos"/>
              </a:rPr>
              <a:t>Known distractor positions are used only to measure wasted KL in controlled tasks.</a:t>
            </a:r>
          </a:p>
        </p:txBody>
      </p:sp>
      <p:sp>
        <p:nvSpPr>
          <p:cNvPr id="23" name="">
            <a:extLst xmlns:a="http://schemas.openxmlformats.org/drawingml/2006/main">
              <a:ext uri="{FF2B5EF4-FFF2-40B4-BE49-F238E27FC236}">
                <a16:creationId xmlns:a16="http://schemas.microsoft.com/office/drawing/2014/main" id="{25E805B0-71C5-4953-A5EB-1E879CFE26F6}"/>
              </a:ext>
            </a:extLst>
          </p:cNvPr>
          <p:cNvSpPr>
            <a:spLocks xmlns:a="http://schemas.openxmlformats.org/drawingml/2006/main" noGrp="1"/>
          </p:cNvSpPr>
          <p:nvPr/>
        </p:nvSpPr>
        <p:spPr>
          <a:xfrm xmlns:a="http://schemas.openxmlformats.org/drawingml/2006/main">
            <a:off x="590550" y="58674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E05A63"/>
                </a:solidFill>
                <a:latin typeface="Aptos"/>
                <a:ea typeface="Aptos"/>
                <a:cs typeface="Aptos"/>
              </a:defRPr>
            </a:pPr>
            <a:r>
              <a:rPr sz="1200" b="1">
                <a:solidFill>
                  <a:srgbClr val="E05A63"/>
                </a:solidFill>
                <a:latin typeface="Aptos"/>
                <a:ea typeface="Aptos"/>
                <a:cs typeface="Aptos"/>
              </a:rPr>
              <a:t>Tabular, factorized policy only in the positive study.</a:t>
            </a:r>
          </a:p>
        </p:txBody>
      </p:sp>
      <p:sp>
        <p:nvSpPr>
          <p:cNvPr id="24" name="">
            <a:extLst xmlns:a="http://schemas.openxmlformats.org/drawingml/2006/main">
              <a:ext uri="{FF2B5EF4-FFF2-40B4-BE49-F238E27FC236}">
                <a16:creationId xmlns:a16="http://schemas.microsoft.com/office/drawing/2014/main" id="{C4BF425C-4A1B-4A78-BAA2-4EFC396E385A}"/>
              </a:ext>
            </a:extLst>
          </p:cNvPr>
          <p:cNvSpPr>
            <a:spLocks xmlns:a="http://schemas.openxmlformats.org/drawingml/2006/main" noGrp="1"/>
          </p:cNvSpPr>
          <p:nvPr/>
        </p:nvSpPr>
        <p:spPr>
          <a:xfrm xmlns:a="http://schemas.openxmlformats.org/drawingml/2006/main">
            <a:off x="590550" y="65151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8B95A8"/>
                </a:solidFill>
                <a:latin typeface="Aptos"/>
                <a:ea typeface="Aptos"/>
                <a:cs typeface="Aptos"/>
              </a:defRPr>
            </a:pPr>
            <a:r>
              <a:rPr sz="750" b="1">
                <a:solidFill>
                  <a:srgbClr val="8B95A8"/>
                </a:solidFill>
                <a:latin typeface="Aptos"/>
                <a:ea typeface="Aptos"/>
                <a:cs typeface="Aptos"/>
              </a:rPr>
              <a:t>TEAM PRISM  |  RC-OMD WORKSHOP</a:t>
            </a:r>
          </a:p>
        </p:txBody>
      </p:sp>
    </p:spTree>
    <p:extLst>
      <p:ext uri="{BB962C8B-B14F-4D97-AF65-F5344CB8AC3E}">
        <p14:creationId xmlns:p14="http://schemas.microsoft.com/office/powerpoint/2010/main" val="671408556"/>
      </p:ext>
    </p:extLst>
  </p:cSld>
</p:sld>
</file>

<file path=ppt/slides/slide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8747DB1-9E67-46BB-9319-9754BD97F01C}"/>
              </a:ext>
            </a:extLst>
          </p:cNvPr>
          <p:cNvSpPr>
            <a:spLocks xmlns:a="http://schemas.openxmlformats.org/drawingml/2006/main" noGrp="1"/>
          </p:cNvSpPr>
          <p:nvPr/>
        </p:nvSpPr>
        <p:spPr>
          <a:xfrm xmlns:a="http://schemas.openxmlformats.org/drawingml/2006/main">
            <a:off x="590550" y="3619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87F72"/>
                </a:solidFill>
                <a:latin typeface="Aptos"/>
                <a:ea typeface="Aptos"/>
                <a:cs typeface="Aptos"/>
              </a:defRPr>
            </a:pPr>
            <a:r>
              <a:rPr sz="1050" b="1">
                <a:solidFill>
                  <a:srgbClr val="087F72"/>
                </a:solidFill>
                <a:latin typeface="Aptos"/>
                <a:ea typeface="Aptos"/>
                <a:cs typeface="Aptos"/>
              </a:rPr>
              <a:t>04</a:t>
            </a:r>
          </a:p>
        </p:txBody>
      </p:sp>
      <p:sp>
        <p:nvSpPr>
          <p:cNvPr id="2" name="">
            <a:extLst xmlns:a="http://schemas.openxmlformats.org/drawingml/2006/main">
              <a:ext uri="{FF2B5EF4-FFF2-40B4-BE49-F238E27FC236}">
                <a16:creationId xmlns:a16="http://schemas.microsoft.com/office/drawing/2014/main" id="{FE1C4711-9AEA-4911-B6FA-67F25CC4A703}"/>
              </a:ext>
            </a:extLst>
          </p:cNvPr>
          <p:cNvSpPr>
            <a:spLocks xmlns:a="http://schemas.openxmlformats.org/drawingml/2006/main" noGrp="1"/>
          </p:cNvSpPr>
          <p:nvPr/>
        </p:nvSpPr>
        <p:spPr>
          <a:xfrm xmlns:a="http://schemas.openxmlformats.org/drawingml/2006/main">
            <a:off x="1066800" y="36195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B95A8"/>
                </a:solidFill>
                <a:latin typeface="Aptos"/>
                <a:ea typeface="Aptos"/>
                <a:cs typeface="Aptos"/>
              </a:defRPr>
            </a:pPr>
            <a:r>
              <a:rPr sz="975" b="1">
                <a:solidFill>
                  <a:srgbClr val="8B95A8"/>
                </a:solidFill>
                <a:latin typeface="Aptos"/>
                <a:ea typeface="Aptos"/>
                <a:cs typeface="Aptos"/>
              </a:rPr>
              <a:t>POSITIVE EVIDENCE</a:t>
            </a:r>
          </a:p>
        </p:txBody>
      </p:sp>
      <p:sp>
        <p:nvSpPr>
          <p:cNvPr id="3" name="">
            <a:extLst xmlns:a="http://schemas.openxmlformats.org/drawingml/2006/main">
              <a:ext uri="{FF2B5EF4-FFF2-40B4-BE49-F238E27FC236}">
                <a16:creationId xmlns:a16="http://schemas.microsoft.com/office/drawing/2014/main" id="{DD22A79A-6F8C-4AA1-AFAE-48F4EB85ACA3}"/>
              </a:ext>
            </a:extLst>
          </p:cNvPr>
          <p:cNvSpPr>
            <a:spLocks xmlns:a="http://schemas.openxmlformats.org/drawingml/2006/main" noGrp="1"/>
          </p:cNvSpPr>
          <p:nvPr/>
        </p:nvSpPr>
        <p:spPr>
          <a:xfrm xmlns:a="http://schemas.openxmlformats.org/drawingml/2006/main">
            <a:off x="590550" y="742950"/>
            <a:ext cx="11010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0B1020"/>
                </a:solidFill>
                <a:latin typeface="Aptos"/>
                <a:ea typeface="Aptos"/>
                <a:cs typeface="Aptos"/>
              </a:defRPr>
            </a:pPr>
            <a:r>
              <a:rPr sz="2700" b="1">
                <a:solidFill>
                  <a:srgbClr val="0B1020"/>
                </a:solidFill>
                <a:latin typeface="Aptos"/>
                <a:ea typeface="Aptos"/>
                <a:cs typeface="Aptos"/>
              </a:rPr>
              <a:t>Pre-registered OOD result: 4 of 4 scenarios pass</a:t>
            </a:r>
          </a:p>
        </p:txBody>
      </p:sp>
      <p:sp>
        <p:nvSpPr>
          <p:cNvPr id="4" name="">
            <a:extLst xmlns:a="http://schemas.openxmlformats.org/drawingml/2006/main">
              <a:ext uri="{FF2B5EF4-FFF2-40B4-BE49-F238E27FC236}">
                <a16:creationId xmlns:a16="http://schemas.microsoft.com/office/drawing/2014/main" id="{FD1C8F64-B212-4CA9-B277-B9A449B27DAA}"/>
              </a:ext>
            </a:extLst>
          </p:cNvPr>
          <p:cNvSpPr>
            <a:spLocks xmlns:a="http://schemas.openxmlformats.org/drawingml/2006/main" noGrp="1"/>
          </p:cNvSpPr>
          <p:nvPr/>
        </p:nvSpPr>
        <p:spPr>
          <a:xfrm xmlns:a="http://schemas.openxmlformats.org/drawingml/2006/main">
            <a:off x="590550" y="1438275"/>
            <a:ext cx="110109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29DC30A4-4DF9-4BD6-844B-B7FACAC455F9}"/>
              </a:ext>
            </a:extLst>
          </p:cNvPr>
          <p:cNvSpPr>
            <a:spLocks xmlns:a="http://schemas.openxmlformats.org/drawingml/2006/main" noGrp="1"/>
          </p:cNvSpPr>
          <p:nvPr/>
        </p:nvSpPr>
        <p:spPr>
          <a:xfrm xmlns:a="http://schemas.openxmlformats.org/drawingml/2006/main">
            <a:off x="10344150" y="809625"/>
            <a:ext cx="952500" cy="285750"/>
          </a:xfrm>
          <a:prstGeom xmlns:a="http://schemas.openxmlformats.org/drawingml/2006/main" prst="roundRect">
            <a:avLst>
              <a:gd name="adj" fmla="val 50000"/>
            </a:avLst>
          </a:prstGeom>
          <a:solidFill xmlns:a="http://schemas.openxmlformats.org/drawingml/2006/main">
            <a:srgbClr val="E5F7F3"/>
          </a:solidFill>
          <a:ln xmlns:a="http://schemas.openxmlformats.org/drawingml/2006/main" w="9525">
            <a:solidFill>
              <a:srgbClr val="E5F7F3"/>
            </a:solidFill>
            <a:prstDash val="solid"/>
          </a:ln>
        </p:spPr>
      </p:sp>
      <p:sp>
        <p:nvSpPr>
          <p:cNvPr id="6" name="">
            <a:extLst xmlns:a="http://schemas.openxmlformats.org/drawingml/2006/main">
              <a:ext uri="{FF2B5EF4-FFF2-40B4-BE49-F238E27FC236}">
                <a16:creationId xmlns:a16="http://schemas.microsoft.com/office/drawing/2014/main" id="{D27C18B0-A651-4BA3-97B7-F0D884A4642D}"/>
              </a:ext>
            </a:extLst>
          </p:cNvPr>
          <p:cNvSpPr>
            <a:spLocks xmlns:a="http://schemas.openxmlformats.org/drawingml/2006/main" noGrp="1"/>
          </p:cNvSpPr>
          <p:nvPr/>
        </p:nvSpPr>
        <p:spPr>
          <a:xfrm xmlns:a="http://schemas.openxmlformats.org/drawingml/2006/main">
            <a:off x="10420350" y="847725"/>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087F72"/>
                </a:solidFill>
                <a:latin typeface="Aptos"/>
                <a:ea typeface="Aptos"/>
                <a:cs typeface="Aptos"/>
              </a:defRPr>
            </a:pPr>
            <a:r>
              <a:rPr sz="975" b="1">
                <a:solidFill>
                  <a:srgbClr val="087F72"/>
                </a:solidFill>
                <a:latin typeface="Aptos"/>
                <a:ea typeface="Aptos"/>
                <a:cs typeface="Aptos"/>
              </a:rPr>
              <a:t>GO</a:t>
            </a:r>
          </a:p>
        </p:txBody>
      </p:sp>
      <p:graphicFrame>
        <p:nvGraphicFramePr>
          <p:cNvPr id="24" name=""/>
          <p:cNvGraphicFramePr/>
          <p:nvPr/>
        </p:nvGraphicFramePr>
        <p:xfrm>
          <a:off xmlns:a="http://schemas.openxmlformats.org/drawingml/2006/main" x="590550" y="1790700"/>
          <a:ext xmlns:a="http://schemas.openxmlformats.org/drawingml/2006/main" cx="11010900" cy="2724150"/>
        </p:xfrm>
        <a:graphic xmlns:a="http://schemas.openxmlformats.org/drawingml/2006/main">
          <a:graphicData uri="http://schemas.openxmlformats.org/drawingml/2006/table">
            <a:tbl>
              <a:tblPr firstRow="1" bandRow="1"/>
              <a:tblGrid>
                <a:gridCol w="4000500"/>
                <a:gridCol w="1733550"/>
                <a:gridCol w="1733550"/>
                <a:gridCol w="1733550"/>
                <a:gridCol w="1809750"/>
              </a:tblGrid>
              <a:tr h="544830">
                <a:tc>
                  <a:txBody>
                    <a:bodyPr/>
                    <a:lstStyle/>
                    <a:p>
                      <a:pPr algn="ctr"/>
                      <a:r>
                        <a:rPr sz="1050" b="1">
                          <a:solidFill>
                            <a:srgbClr val="FFFFFF"/>
                          </a:solidFill>
                        </a:rPr>
                        <a:t>OOD scenario (n = 10 seeds)</a:t>
                      </a:r>
                    </a:p>
                  </a:txBody>
                  <a:tcPr marL="76200" marR="76200" marT="76200" marB="76200">
                    <a:solidFill>
                      <a:srgbClr val="16324F"/>
                    </a:solidFill>
                  </a:tcPr>
                </a:tc>
                <a:tc>
                  <a:txBody>
                    <a:bodyPr/>
                    <a:lstStyle/>
                    <a:p>
                      <a:pPr algn="ctr"/>
                      <a:r>
                        <a:rPr sz="1050" b="1">
                          <a:solidFill>
                            <a:srgbClr val="FFFFFF"/>
                          </a:solidFill>
                        </a:rPr>
                        <a:t>Uniform AUC</a:t>
                      </a:r>
                    </a:p>
                  </a:txBody>
                  <a:tcPr marL="76200" marR="76200" marT="76200" marB="76200">
                    <a:solidFill>
                      <a:srgbClr val="16324F"/>
                    </a:solidFill>
                  </a:tcPr>
                </a:tc>
                <a:tc>
                  <a:txBody>
                    <a:bodyPr/>
                    <a:lstStyle/>
                    <a:p>
                      <a:pPr algn="ctr"/>
                      <a:r>
                        <a:rPr sz="1050" b="1">
                          <a:solidFill>
                            <a:srgbClr val="FFFFFF"/>
                          </a:solidFill>
                        </a:rPr>
                        <a:t>Online AUC</a:t>
                      </a:r>
                    </a:p>
                  </a:txBody>
                  <a:tcPr marL="76200" marR="76200" marT="76200" marB="76200">
                    <a:solidFill>
                      <a:srgbClr val="16324F"/>
                    </a:solidFill>
                  </a:tcPr>
                </a:tc>
                <a:tc>
                  <a:txBody>
                    <a:bodyPr/>
                    <a:lstStyle/>
                    <a:p>
                      <a:pPr algn="ctr"/>
                      <a:r>
                        <a:rPr sz="1050" b="1">
                          <a:solidFill>
                            <a:srgbClr val="FFFFFF"/>
                          </a:solidFill>
                        </a:rPr>
                        <a:t>AUC Δ</a:t>
                      </a:r>
                    </a:p>
                  </a:txBody>
                  <a:tcPr marL="76200" marR="76200" marT="76200" marB="76200">
                    <a:solidFill>
                      <a:srgbClr val="16324F"/>
                    </a:solidFill>
                  </a:tcPr>
                </a:tc>
                <a:tc>
                  <a:txBody>
                    <a:bodyPr/>
                    <a:lstStyle/>
                    <a:p>
                      <a:pPr algn="ctr"/>
                      <a:r>
                        <a:rPr sz="1050" b="1">
                          <a:solidFill>
                            <a:srgbClr val="FFFFFF"/>
                          </a:solidFill>
                        </a:rPr>
                        <a:t>Distractor KL ratio</a:t>
                      </a:r>
                    </a:p>
                  </a:txBody>
                  <a:tcPr marL="76200" marR="76200" marT="76200" marB="76200">
                    <a:solidFill>
                      <a:srgbClr val="16324F"/>
                    </a:solidFill>
                  </a:tcPr>
                </a:tc>
              </a:tr>
              <a:tr h="544830">
                <a:tc>
                  <a:txBody>
                    <a:bodyPr/>
                    <a:lstStyle/>
                    <a:p>
                      <a:pPr algn="l"/>
                      <a:r>
                        <a:rPr sz="1050" b="1">
                          <a:solidFill>
                            <a:srgbClr val="16324F"/>
                          </a:solidFill>
                        </a:rPr>
                        <a:t>Dense 2-of-6 · tiny group</a:t>
                      </a:r>
                    </a:p>
                  </a:txBody>
                  <a:tcPr marL="76200" marR="76200" marT="76200" marB="76200"/>
                </a:tc>
                <a:tc>
                  <a:txBody>
                    <a:bodyPr/>
                    <a:lstStyle/>
                    <a:p>
                      <a:pPr algn="ctr"/>
                      <a:r>
                        <a:rPr sz="1050">
                          <a:solidFill>
                            <a:srgbClr val="0B1020"/>
                          </a:solidFill>
                        </a:rPr>
                        <a:t>0.992182</a:t>
                      </a:r>
                    </a:p>
                  </a:txBody>
                  <a:tcPr marL="76200" marR="76200" marT="76200" marB="76200"/>
                </a:tc>
                <a:tc>
                  <a:txBody>
                    <a:bodyPr/>
                    <a:lstStyle/>
                    <a:p>
                      <a:pPr algn="ctr"/>
                      <a:r>
                        <a:rPr sz="1050">
                          <a:solidFill>
                            <a:srgbClr val="0B1020"/>
                          </a:solidFill>
                        </a:rPr>
                        <a:t>0.990865</a:t>
                      </a:r>
                    </a:p>
                  </a:txBody>
                  <a:tcPr marL="76200" marR="76200" marT="76200" marB="76200"/>
                </a:tc>
                <a:tc>
                  <a:txBody>
                    <a:bodyPr/>
                    <a:lstStyle/>
                    <a:p>
                      <a:pPr algn="ctr"/>
                      <a:r>
                        <a:rPr sz="1050">
                          <a:solidFill>
                            <a:srgbClr val="0B1020"/>
                          </a:solidFill>
                        </a:rPr>
                        <a:t>−0.001317</a:t>
                      </a:r>
                    </a:p>
                  </a:txBody>
                  <a:tcPr marL="76200" marR="76200" marT="76200" marB="76200"/>
                </a:tc>
                <a:tc>
                  <a:txBody>
                    <a:bodyPr/>
                    <a:lstStyle/>
                    <a:p>
                      <a:pPr algn="ctr"/>
                      <a:r>
                        <a:rPr sz="1125" b="1">
                          <a:solidFill>
                            <a:srgbClr val="087F72"/>
                          </a:solidFill>
                        </a:rPr>
                        <a:t>0.248</a:t>
                      </a:r>
                    </a:p>
                  </a:txBody>
                  <a:tcPr marL="76200" marR="76200" marT="76200" marB="76200">
                    <a:solidFill>
                      <a:srgbClr val="E5F7F3"/>
                    </a:solidFill>
                  </a:tcPr>
                </a:tc>
              </a:tr>
              <a:tr h="544830">
                <a:tc>
                  <a:txBody>
                    <a:bodyPr/>
                    <a:lstStyle/>
                    <a:p>
                      <a:pPr algn="l"/>
                      <a:r>
                        <a:rPr sz="1050" b="1">
                          <a:solidFill>
                            <a:srgbClr val="16324F"/>
                          </a:solidFill>
                        </a:rPr>
                        <a:t>Needle 5-of-5 · long horizon</a:t>
                      </a:r>
                    </a:p>
                  </a:txBody>
                  <a:tcPr marL="76200" marR="76200" marT="76200" marB="76200"/>
                </a:tc>
                <a:tc>
                  <a:txBody>
                    <a:bodyPr/>
                    <a:lstStyle/>
                    <a:p>
                      <a:pPr algn="ctr"/>
                      <a:r>
                        <a:rPr sz="1050">
                          <a:solidFill>
                            <a:srgbClr val="0B1020"/>
                          </a:solidFill>
                        </a:rPr>
                        <a:t>0.980026</a:t>
                      </a:r>
                    </a:p>
                  </a:txBody>
                  <a:tcPr marL="76200" marR="76200" marT="76200" marB="76200"/>
                </a:tc>
                <a:tc>
                  <a:txBody>
                    <a:bodyPr/>
                    <a:lstStyle/>
                    <a:p>
                      <a:pPr algn="ctr"/>
                      <a:r>
                        <a:rPr sz="1050">
                          <a:solidFill>
                            <a:srgbClr val="0B1020"/>
                          </a:solidFill>
                        </a:rPr>
                        <a:t>0.980782</a:t>
                      </a:r>
                    </a:p>
                  </a:txBody>
                  <a:tcPr marL="76200" marR="76200" marT="76200" marB="76200"/>
                </a:tc>
                <a:tc>
                  <a:txBody>
                    <a:bodyPr/>
                    <a:lstStyle/>
                    <a:p>
                      <a:pPr algn="ctr"/>
                      <a:r>
                        <a:rPr sz="1050">
                          <a:solidFill>
                            <a:srgbClr val="0B1020"/>
                          </a:solidFill>
                        </a:rPr>
                        <a:t>+0.000755</a:t>
                      </a:r>
                    </a:p>
                  </a:txBody>
                  <a:tcPr marL="76200" marR="76200" marT="76200" marB="76200"/>
                </a:tc>
                <a:tc>
                  <a:txBody>
                    <a:bodyPr/>
                    <a:lstStyle/>
                    <a:p>
                      <a:pPr algn="ctr"/>
                      <a:r>
                        <a:rPr sz="1125" b="1">
                          <a:solidFill>
                            <a:srgbClr val="087F72"/>
                          </a:solidFill>
                        </a:rPr>
                        <a:t>0.239</a:t>
                      </a:r>
                    </a:p>
                  </a:txBody>
                  <a:tcPr marL="76200" marR="76200" marT="76200" marB="76200">
                    <a:solidFill>
                      <a:srgbClr val="E5F7F3"/>
                    </a:solidFill>
                  </a:tcPr>
                </a:tc>
              </a:tr>
              <a:tr h="544830">
                <a:tc>
                  <a:txBody>
                    <a:bodyPr/>
                    <a:lstStyle/>
                    <a:p>
                      <a:pPr algn="l"/>
                      <a:r>
                        <a:rPr sz="1050" b="1">
                          <a:solidFill>
                            <a:srgbClr val="16324F"/>
                          </a:solidFill>
                        </a:rPr>
                        <a:t>Threshold 3-of-5 · small group</a:t>
                      </a:r>
                    </a:p>
                  </a:txBody>
                  <a:tcPr marL="76200" marR="76200" marT="76200" marB="76200"/>
                </a:tc>
                <a:tc>
                  <a:txBody>
                    <a:bodyPr/>
                    <a:lstStyle/>
                    <a:p>
                      <a:pPr algn="ctr"/>
                      <a:r>
                        <a:rPr sz="1050">
                          <a:solidFill>
                            <a:srgbClr val="0B1020"/>
                          </a:solidFill>
                        </a:rPr>
                        <a:t>0.992195</a:t>
                      </a:r>
                    </a:p>
                  </a:txBody>
                  <a:tcPr marL="76200" marR="76200" marT="76200" marB="76200"/>
                </a:tc>
                <a:tc>
                  <a:txBody>
                    <a:bodyPr/>
                    <a:lstStyle/>
                    <a:p>
                      <a:pPr algn="ctr"/>
                      <a:r>
                        <a:rPr sz="1050">
                          <a:solidFill>
                            <a:srgbClr val="0B1020"/>
                          </a:solidFill>
                        </a:rPr>
                        <a:t>0.990567</a:t>
                      </a:r>
                    </a:p>
                  </a:txBody>
                  <a:tcPr marL="76200" marR="76200" marT="76200" marB="76200"/>
                </a:tc>
                <a:tc>
                  <a:txBody>
                    <a:bodyPr/>
                    <a:lstStyle/>
                    <a:p>
                      <a:pPr algn="ctr"/>
                      <a:r>
                        <a:rPr sz="1050">
                          <a:solidFill>
                            <a:srgbClr val="0B1020"/>
                          </a:solidFill>
                        </a:rPr>
                        <a:t>−0.001628</a:t>
                      </a:r>
                    </a:p>
                  </a:txBody>
                  <a:tcPr marL="76200" marR="76200" marT="76200" marB="76200"/>
                </a:tc>
                <a:tc>
                  <a:txBody>
                    <a:bodyPr/>
                    <a:lstStyle/>
                    <a:p>
                      <a:pPr algn="ctr"/>
                      <a:r>
                        <a:rPr sz="1125" b="1">
                          <a:solidFill>
                            <a:srgbClr val="087F72"/>
                          </a:solidFill>
                        </a:rPr>
                        <a:t>0.189</a:t>
                      </a:r>
                    </a:p>
                  </a:txBody>
                  <a:tcPr marL="76200" marR="76200" marT="76200" marB="76200">
                    <a:solidFill>
                      <a:srgbClr val="E5F7F3"/>
                    </a:solidFill>
                  </a:tcPr>
                </a:tc>
              </a:tr>
              <a:tr h="544830">
                <a:tc>
                  <a:txBody>
                    <a:bodyPr/>
                    <a:lstStyle/>
                    <a:p>
                      <a:pPr algn="l"/>
                      <a:r>
                        <a:rPr sz="1050" b="1">
                          <a:solidFill>
                            <a:srgbClr val="16324F"/>
                          </a:solidFill>
                        </a:rPr>
                        <a:t>Threshold 4-of-6 · 3 actions</a:t>
                      </a:r>
                    </a:p>
                  </a:txBody>
                  <a:tcPr marL="76200" marR="76200" marT="76200" marB="76200"/>
                </a:tc>
                <a:tc>
                  <a:txBody>
                    <a:bodyPr/>
                    <a:lstStyle/>
                    <a:p>
                      <a:pPr algn="ctr"/>
                      <a:r>
                        <a:rPr sz="1050">
                          <a:solidFill>
                            <a:srgbClr val="0B1020"/>
                          </a:solidFill>
                        </a:rPr>
                        <a:t>0.989446</a:t>
                      </a:r>
                    </a:p>
                  </a:txBody>
                  <a:tcPr marL="76200" marR="76200" marT="76200" marB="76200"/>
                </a:tc>
                <a:tc>
                  <a:txBody>
                    <a:bodyPr/>
                    <a:lstStyle/>
                    <a:p>
                      <a:pPr algn="ctr"/>
                      <a:r>
                        <a:rPr sz="1050">
                          <a:solidFill>
                            <a:srgbClr val="0B1020"/>
                          </a:solidFill>
                        </a:rPr>
                        <a:t>0.987688</a:t>
                      </a:r>
                    </a:p>
                  </a:txBody>
                  <a:tcPr marL="76200" marR="76200" marT="76200" marB="76200"/>
                </a:tc>
                <a:tc>
                  <a:txBody>
                    <a:bodyPr/>
                    <a:lstStyle/>
                    <a:p>
                      <a:pPr algn="ctr"/>
                      <a:r>
                        <a:rPr sz="1050">
                          <a:solidFill>
                            <a:srgbClr val="0B1020"/>
                          </a:solidFill>
                        </a:rPr>
                        <a:t>−0.001758</a:t>
                      </a:r>
                    </a:p>
                  </a:txBody>
                  <a:tcPr marL="76200" marR="76200" marT="76200" marB="76200"/>
                </a:tc>
                <a:tc>
                  <a:txBody>
                    <a:bodyPr/>
                    <a:lstStyle/>
                    <a:p>
                      <a:pPr algn="ctr"/>
                      <a:r>
                        <a:rPr sz="1125" b="1">
                          <a:solidFill>
                            <a:srgbClr val="087F72"/>
                          </a:solidFill>
                        </a:rPr>
                        <a:t>0.199</a:t>
                      </a:r>
                    </a:p>
                  </a:txBody>
                  <a:tcPr marL="76200" marR="76200" marT="76200" marB="76200">
                    <a:solidFill>
                      <a:srgbClr val="E5F7F3"/>
                    </a:solidFill>
                  </a:tcPr>
                </a:tc>
              </a:tr>
            </a:tbl>
          </a:graphicData>
        </a:graphic>
      </p:graphicFrame>
      <p:sp>
        <p:nvSpPr>
          <p:cNvPr id="8" name="">
            <a:extLst xmlns:a="http://schemas.openxmlformats.org/drawingml/2006/main">
              <a:ext uri="{FF2B5EF4-FFF2-40B4-BE49-F238E27FC236}">
                <a16:creationId xmlns:a16="http://schemas.microsoft.com/office/drawing/2014/main" id="{C49DECA0-D311-411E-B991-1678AE8E53E5}"/>
              </a:ext>
            </a:extLst>
          </p:cNvPr>
          <p:cNvSpPr>
            <a:spLocks xmlns:a="http://schemas.openxmlformats.org/drawingml/2006/main" noGrp="1"/>
          </p:cNvSpPr>
          <p:nvPr/>
        </p:nvSpPr>
        <p:spPr>
          <a:xfrm xmlns:a="http://schemas.openxmlformats.org/drawingml/2006/main">
            <a:off x="590550" y="4838700"/>
            <a:ext cx="3381375" cy="1066800"/>
          </a:xfrm>
          <a:prstGeom xmlns:a="http://schemas.openxmlformats.org/drawingml/2006/main" prst="roundRect">
            <a:avLst>
              <a:gd name="adj" fmla="val 10714"/>
            </a:avLst>
          </a:prstGeom>
          <a:solidFill xmlns:a="http://schemas.openxmlformats.org/drawingml/2006/main">
            <a:srgbClr val="EAF0FF"/>
          </a:solidFill>
          <a:ln xmlns:a="http://schemas.openxmlformats.org/drawingml/2006/main" w="9525">
            <a:solidFill>
              <a:srgbClr val="EAF0FF"/>
            </a:solidFill>
            <a:prstDash val="solid"/>
          </a:ln>
        </p:spPr>
      </p:sp>
      <p:sp>
        <p:nvSpPr>
          <p:cNvPr id="9" name="">
            <a:extLst xmlns:a="http://schemas.openxmlformats.org/drawingml/2006/main">
              <a:ext uri="{FF2B5EF4-FFF2-40B4-BE49-F238E27FC236}">
                <a16:creationId xmlns:a16="http://schemas.microsoft.com/office/drawing/2014/main" id="{64B1AF50-59C4-4490-9187-93067FDCDAEC}"/>
              </a:ext>
            </a:extLst>
          </p:cNvPr>
          <p:cNvSpPr>
            <a:spLocks xmlns:a="http://schemas.openxmlformats.org/drawingml/2006/main" noGrp="1"/>
          </p:cNvSpPr>
          <p:nvPr/>
        </p:nvSpPr>
        <p:spPr>
          <a:xfrm xmlns:a="http://schemas.openxmlformats.org/drawingml/2006/main">
            <a:off x="800100" y="5010150"/>
            <a:ext cx="29622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2F6FED"/>
                </a:solidFill>
                <a:latin typeface="Aptos"/>
                <a:ea typeface="Aptos"/>
                <a:cs typeface="Aptos"/>
              </a:defRPr>
            </a:pPr>
            <a:r>
              <a:rPr sz="2175" b="1">
                <a:solidFill>
                  <a:srgbClr val="2F6FED"/>
                </a:solidFill>
                <a:latin typeface="Aptos"/>
                <a:ea typeface="Aptos"/>
                <a:cs typeface="Aptos"/>
              </a:rPr>
              <a:t>≤ 0.0018</a:t>
            </a:r>
          </a:p>
        </p:txBody>
      </p:sp>
      <p:sp>
        <p:nvSpPr>
          <p:cNvPr id="10" name="">
            <a:extLst xmlns:a="http://schemas.openxmlformats.org/drawingml/2006/main">
              <a:ext uri="{FF2B5EF4-FFF2-40B4-BE49-F238E27FC236}">
                <a16:creationId xmlns:a16="http://schemas.microsoft.com/office/drawing/2014/main" id="{A3CBFB69-4407-44FF-B72A-E3ED7961732E}"/>
              </a:ext>
            </a:extLst>
          </p:cNvPr>
          <p:cNvSpPr>
            <a:spLocks xmlns:a="http://schemas.openxmlformats.org/drawingml/2006/main" noGrp="1"/>
          </p:cNvSpPr>
          <p:nvPr/>
        </p:nvSpPr>
        <p:spPr>
          <a:xfrm xmlns:a="http://schemas.openxmlformats.org/drawingml/2006/main">
            <a:off x="800100" y="5438775"/>
            <a:ext cx="29622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5C677D"/>
                </a:solidFill>
                <a:latin typeface="Aptos"/>
                <a:ea typeface="Aptos"/>
                <a:cs typeface="Aptos"/>
              </a:defRPr>
            </a:pPr>
            <a:r>
              <a:rPr sz="1050" b="1">
                <a:solidFill>
                  <a:srgbClr val="5C677D"/>
                </a:solidFill>
                <a:latin typeface="Aptos"/>
                <a:ea typeface="Aptos"/>
                <a:cs typeface="Aptos"/>
              </a:rPr>
              <a:t>absolute AUC difference</a:t>
            </a:r>
          </a:p>
        </p:txBody>
      </p:sp>
      <p:sp>
        <p:nvSpPr>
          <p:cNvPr id="11" name="">
            <a:extLst xmlns:a="http://schemas.openxmlformats.org/drawingml/2006/main">
              <a:ext uri="{FF2B5EF4-FFF2-40B4-BE49-F238E27FC236}">
                <a16:creationId xmlns:a16="http://schemas.microsoft.com/office/drawing/2014/main" id="{0E5DE7FE-0A4B-4D6A-AA4C-19A59212AB43}"/>
              </a:ext>
            </a:extLst>
          </p:cNvPr>
          <p:cNvSpPr>
            <a:spLocks xmlns:a="http://schemas.openxmlformats.org/drawingml/2006/main" noGrp="1"/>
          </p:cNvSpPr>
          <p:nvPr/>
        </p:nvSpPr>
        <p:spPr>
          <a:xfrm xmlns:a="http://schemas.openxmlformats.org/drawingml/2006/main">
            <a:off x="4191000" y="4838700"/>
            <a:ext cx="3381375" cy="1066800"/>
          </a:xfrm>
          <a:prstGeom xmlns:a="http://schemas.openxmlformats.org/drawingml/2006/main" prst="roundRect">
            <a:avLst>
              <a:gd name="adj" fmla="val 10714"/>
            </a:avLst>
          </a:prstGeom>
          <a:solidFill xmlns:a="http://schemas.openxmlformats.org/drawingml/2006/main">
            <a:srgbClr val="E5F7F3"/>
          </a:solidFill>
          <a:ln xmlns:a="http://schemas.openxmlformats.org/drawingml/2006/main" w="9525">
            <a:solidFill>
              <a:srgbClr val="E5F7F3"/>
            </a:solidFill>
            <a:prstDash val="solid"/>
          </a:ln>
        </p:spPr>
      </p:sp>
      <p:sp>
        <p:nvSpPr>
          <p:cNvPr id="12" name="">
            <a:extLst xmlns:a="http://schemas.openxmlformats.org/drawingml/2006/main">
              <a:ext uri="{FF2B5EF4-FFF2-40B4-BE49-F238E27FC236}">
                <a16:creationId xmlns:a16="http://schemas.microsoft.com/office/drawing/2014/main" id="{3758E96C-341D-4915-B5A3-3FE8325A2EE1}"/>
              </a:ext>
            </a:extLst>
          </p:cNvPr>
          <p:cNvSpPr>
            <a:spLocks xmlns:a="http://schemas.openxmlformats.org/drawingml/2006/main" noGrp="1"/>
          </p:cNvSpPr>
          <p:nvPr/>
        </p:nvSpPr>
        <p:spPr>
          <a:xfrm xmlns:a="http://schemas.openxmlformats.org/drawingml/2006/main">
            <a:off x="4400550" y="5010150"/>
            <a:ext cx="29622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087F72"/>
                </a:solidFill>
                <a:latin typeface="Aptos"/>
                <a:ea typeface="Aptos"/>
                <a:cs typeface="Aptos"/>
              </a:defRPr>
            </a:pPr>
            <a:r>
              <a:rPr sz="2175" b="1">
                <a:solidFill>
                  <a:srgbClr val="087F72"/>
                </a:solidFill>
                <a:latin typeface="Aptos"/>
                <a:ea typeface="Aptos"/>
                <a:cs typeface="Aptos"/>
              </a:rPr>
              <a:t>18.9%–24.8%</a:t>
            </a:r>
          </a:p>
        </p:txBody>
      </p:sp>
      <p:sp>
        <p:nvSpPr>
          <p:cNvPr id="13" name="">
            <a:extLst xmlns:a="http://schemas.openxmlformats.org/drawingml/2006/main">
              <a:ext uri="{FF2B5EF4-FFF2-40B4-BE49-F238E27FC236}">
                <a16:creationId xmlns:a16="http://schemas.microsoft.com/office/drawing/2014/main" id="{58FE4063-9743-43BE-A244-F697CB277300}"/>
              </a:ext>
            </a:extLst>
          </p:cNvPr>
          <p:cNvSpPr>
            <a:spLocks xmlns:a="http://schemas.openxmlformats.org/drawingml/2006/main" noGrp="1"/>
          </p:cNvSpPr>
          <p:nvPr/>
        </p:nvSpPr>
        <p:spPr>
          <a:xfrm xmlns:a="http://schemas.openxmlformats.org/drawingml/2006/main">
            <a:off x="4400550" y="5438775"/>
            <a:ext cx="29622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5C677D"/>
                </a:solidFill>
                <a:latin typeface="Aptos"/>
                <a:ea typeface="Aptos"/>
                <a:cs typeface="Aptos"/>
              </a:defRPr>
            </a:pPr>
            <a:r>
              <a:rPr sz="1050" b="1">
                <a:solidFill>
                  <a:srgbClr val="5C677D"/>
                </a:solidFill>
                <a:latin typeface="Aptos"/>
                <a:ea typeface="Aptos"/>
                <a:cs typeface="Aptos"/>
              </a:rPr>
              <a:t>of Uniform distractor KL</a:t>
            </a:r>
          </a:p>
        </p:txBody>
      </p:sp>
      <p:sp>
        <p:nvSpPr>
          <p:cNvPr id="14" name="">
            <a:extLst xmlns:a="http://schemas.openxmlformats.org/drawingml/2006/main">
              <a:ext uri="{FF2B5EF4-FFF2-40B4-BE49-F238E27FC236}">
                <a16:creationId xmlns:a16="http://schemas.microsoft.com/office/drawing/2014/main" id="{7474F085-FF91-4034-AA6B-9B4846A909F6}"/>
              </a:ext>
            </a:extLst>
          </p:cNvPr>
          <p:cNvSpPr>
            <a:spLocks xmlns:a="http://schemas.openxmlformats.org/drawingml/2006/main" noGrp="1"/>
          </p:cNvSpPr>
          <p:nvPr/>
        </p:nvSpPr>
        <p:spPr>
          <a:xfrm xmlns:a="http://schemas.openxmlformats.org/drawingml/2006/main">
            <a:off x="7791450" y="4838700"/>
            <a:ext cx="3810000" cy="1066800"/>
          </a:xfrm>
          <a:prstGeom xmlns:a="http://schemas.openxmlformats.org/drawingml/2006/main" prst="roundRect">
            <a:avLst>
              <a:gd name="adj" fmla="val 10714"/>
            </a:avLst>
          </a:prstGeom>
          <a:solidFill xmlns:a="http://schemas.openxmlformats.org/drawingml/2006/main">
            <a:srgbClr val="FFF3DF"/>
          </a:solidFill>
          <a:ln xmlns:a="http://schemas.openxmlformats.org/drawingml/2006/main" w="9525">
            <a:solidFill>
              <a:srgbClr val="FFF3DF"/>
            </a:solidFill>
            <a:prstDash val="solid"/>
          </a:ln>
        </p:spPr>
      </p:sp>
      <p:sp>
        <p:nvSpPr>
          <p:cNvPr id="15" name="">
            <a:extLst xmlns:a="http://schemas.openxmlformats.org/drawingml/2006/main">
              <a:ext uri="{FF2B5EF4-FFF2-40B4-BE49-F238E27FC236}">
                <a16:creationId xmlns:a16="http://schemas.microsoft.com/office/drawing/2014/main" id="{FD08CCDA-2960-4458-ACB7-E486EB413AF3}"/>
              </a:ext>
            </a:extLst>
          </p:cNvPr>
          <p:cNvSpPr>
            <a:spLocks xmlns:a="http://schemas.openxmlformats.org/drawingml/2006/main" noGrp="1"/>
          </p:cNvSpPr>
          <p:nvPr/>
        </p:nvSpPr>
        <p:spPr>
          <a:xfrm xmlns:a="http://schemas.openxmlformats.org/drawingml/2006/main">
            <a:off x="8001000" y="5010150"/>
            <a:ext cx="3390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9B640C"/>
                </a:solidFill>
                <a:latin typeface="Aptos"/>
                <a:ea typeface="Aptos"/>
                <a:cs typeface="Aptos"/>
              </a:defRPr>
            </a:pPr>
            <a:r>
              <a:rPr sz="2175" b="1">
                <a:solidFill>
                  <a:srgbClr val="9B640C"/>
                </a:solidFill>
                <a:latin typeface="Aptos"/>
                <a:ea typeface="Aptos"/>
                <a:cs typeface="Aptos"/>
              </a:rPr>
              <a:t>6.9%–10.7%</a:t>
            </a:r>
          </a:p>
        </p:txBody>
      </p:sp>
      <p:sp>
        <p:nvSpPr>
          <p:cNvPr id="16" name="">
            <a:extLst xmlns:a="http://schemas.openxmlformats.org/drawingml/2006/main">
              <a:ext uri="{FF2B5EF4-FFF2-40B4-BE49-F238E27FC236}">
                <a16:creationId xmlns:a16="http://schemas.microsoft.com/office/drawing/2014/main" id="{AA7E311E-333C-4575-ABB5-4AD1CE0443B7}"/>
              </a:ext>
            </a:extLst>
          </p:cNvPr>
          <p:cNvSpPr>
            <a:spLocks xmlns:a="http://schemas.openxmlformats.org/drawingml/2006/main" noGrp="1"/>
          </p:cNvSpPr>
          <p:nvPr/>
        </p:nvSpPr>
        <p:spPr>
          <a:xfrm xmlns:a="http://schemas.openxmlformats.org/drawingml/2006/main">
            <a:off x="8001000" y="5438775"/>
            <a:ext cx="3390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5C677D"/>
                </a:solidFill>
                <a:latin typeface="Aptos"/>
                <a:ea typeface="Aptos"/>
                <a:cs typeface="Aptos"/>
              </a:defRPr>
            </a:pPr>
            <a:r>
              <a:rPr sz="1050" b="1">
                <a:solidFill>
                  <a:srgbClr val="5C677D"/>
                </a:solidFill>
                <a:latin typeface="Aptos"/>
                <a:ea typeface="Aptos"/>
                <a:cs typeface="Aptos"/>
              </a:rPr>
              <a:t>runtime overhead · all &lt; 1.5×</a:t>
            </a:r>
          </a:p>
        </p:txBody>
      </p:sp>
      <p:sp>
        <p:nvSpPr>
          <p:cNvPr id="17" name="">
            <a:extLst xmlns:a="http://schemas.openxmlformats.org/drawingml/2006/main">
              <a:ext uri="{FF2B5EF4-FFF2-40B4-BE49-F238E27FC236}">
                <a16:creationId xmlns:a16="http://schemas.microsoft.com/office/drawing/2014/main" id="{894AE55E-8001-473F-9BF1-0F83EF25C228}"/>
              </a:ext>
            </a:extLst>
          </p:cNvPr>
          <p:cNvSpPr>
            <a:spLocks xmlns:a="http://schemas.openxmlformats.org/drawingml/2006/main" noGrp="1"/>
          </p:cNvSpPr>
          <p:nvPr/>
        </p:nvSpPr>
        <p:spPr>
          <a:xfrm xmlns:a="http://schemas.openxmlformats.org/drawingml/2006/main">
            <a:off x="590550" y="65151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8B95A8"/>
                </a:solidFill>
                <a:latin typeface="Aptos"/>
                <a:ea typeface="Aptos"/>
                <a:cs typeface="Aptos"/>
              </a:defRPr>
            </a:pPr>
            <a:r>
              <a:rPr sz="750" b="1">
                <a:solidFill>
                  <a:srgbClr val="8B95A8"/>
                </a:solidFill>
                <a:latin typeface="Aptos"/>
                <a:ea typeface="Aptos"/>
                <a:cs typeface="Aptos"/>
              </a:rPr>
              <a:t>PRE-REGISTERED PROTOCOL  ood-v1-2026-08-08  |  EXECUTION d37a5ff</a:t>
            </a:r>
          </a:p>
        </p:txBody>
      </p:sp>
    </p:spTree>
    <p:extLst>
      <p:ext uri="{BB962C8B-B14F-4D97-AF65-F5344CB8AC3E}">
        <p14:creationId xmlns:p14="http://schemas.microsoft.com/office/powerpoint/2010/main" val="1992336545"/>
      </p:ext>
    </p:extLst>
  </p:cSld>
</p:sld>
</file>

<file path=ppt/slides/slide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06E67554-3C4E-4693-878A-8A3C36EEE5A7}"/>
              </a:ext>
            </a:extLst>
          </p:cNvPr>
          <p:cNvSpPr>
            <a:spLocks xmlns:a="http://schemas.openxmlformats.org/drawingml/2006/main" noGrp="1"/>
          </p:cNvSpPr>
          <p:nvPr/>
        </p:nvSpPr>
        <p:spPr>
          <a:xfrm xmlns:a="http://schemas.openxmlformats.org/drawingml/2006/main">
            <a:off x="590550" y="3619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87F72"/>
                </a:solidFill>
                <a:latin typeface="Aptos"/>
                <a:ea typeface="Aptos"/>
                <a:cs typeface="Aptos"/>
              </a:defRPr>
            </a:pPr>
            <a:r>
              <a:rPr sz="1050" b="1">
                <a:solidFill>
                  <a:srgbClr val="087F72"/>
                </a:solidFill>
                <a:latin typeface="Aptos"/>
                <a:ea typeface="Aptos"/>
                <a:cs typeface="Aptos"/>
              </a:rPr>
              <a:t>05</a:t>
            </a:r>
          </a:p>
        </p:txBody>
      </p:sp>
      <p:sp>
        <p:nvSpPr>
          <p:cNvPr id="2" name="">
            <a:extLst xmlns:a="http://schemas.openxmlformats.org/drawingml/2006/main">
              <a:ext uri="{FF2B5EF4-FFF2-40B4-BE49-F238E27FC236}">
                <a16:creationId xmlns:a16="http://schemas.microsoft.com/office/drawing/2014/main" id="{501B214D-C51D-4A05-975C-73106E52FCC4}"/>
              </a:ext>
            </a:extLst>
          </p:cNvPr>
          <p:cNvSpPr>
            <a:spLocks xmlns:a="http://schemas.openxmlformats.org/drawingml/2006/main" noGrp="1"/>
          </p:cNvSpPr>
          <p:nvPr/>
        </p:nvSpPr>
        <p:spPr>
          <a:xfrm xmlns:a="http://schemas.openxmlformats.org/drawingml/2006/main">
            <a:off x="1066800" y="36195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B95A8"/>
                </a:solidFill>
                <a:latin typeface="Aptos"/>
                <a:ea typeface="Aptos"/>
                <a:cs typeface="Aptos"/>
              </a:defRPr>
            </a:pPr>
            <a:r>
              <a:rPr sz="975" b="1">
                <a:solidFill>
                  <a:srgbClr val="8B95A8"/>
                </a:solidFill>
                <a:latin typeface="Aptos"/>
                <a:ea typeface="Aptos"/>
                <a:cs typeface="Aptos"/>
              </a:rPr>
              <a:t>NO-GO &amp; DISCUSSION</a:t>
            </a:r>
          </a:p>
        </p:txBody>
      </p:sp>
      <p:sp>
        <p:nvSpPr>
          <p:cNvPr id="3" name="">
            <a:extLst xmlns:a="http://schemas.openxmlformats.org/drawingml/2006/main">
              <a:ext uri="{FF2B5EF4-FFF2-40B4-BE49-F238E27FC236}">
                <a16:creationId xmlns:a16="http://schemas.microsoft.com/office/drawing/2014/main" id="{8AD152BE-FAEE-4AD7-B22A-D191DCB831FC}"/>
              </a:ext>
            </a:extLst>
          </p:cNvPr>
          <p:cNvSpPr>
            <a:spLocks xmlns:a="http://schemas.openxmlformats.org/drawingml/2006/main" noGrp="1"/>
          </p:cNvSpPr>
          <p:nvPr/>
        </p:nvSpPr>
        <p:spPr>
          <a:xfrm xmlns:a="http://schemas.openxmlformats.org/drawingml/2006/main">
            <a:off x="590550" y="742950"/>
            <a:ext cx="11010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0B1020"/>
                </a:solidFill>
                <a:latin typeface="Aptos"/>
                <a:ea typeface="Aptos"/>
                <a:cs typeface="Aptos"/>
              </a:defRPr>
            </a:pPr>
            <a:r>
              <a:rPr sz="2700" b="1">
                <a:solidFill>
                  <a:srgbClr val="0B1020"/>
                </a:solidFill>
                <a:latin typeface="Aptos"/>
                <a:ea typeface="Aptos"/>
                <a:cs typeface="Aptos"/>
              </a:rPr>
              <a:t>Shared parameters break the local-control mechanism</a:t>
            </a:r>
          </a:p>
        </p:txBody>
      </p:sp>
      <p:sp>
        <p:nvSpPr>
          <p:cNvPr id="4" name="">
            <a:extLst xmlns:a="http://schemas.openxmlformats.org/drawingml/2006/main">
              <a:ext uri="{FF2B5EF4-FFF2-40B4-BE49-F238E27FC236}">
                <a16:creationId xmlns:a16="http://schemas.microsoft.com/office/drawing/2014/main" id="{CEDB9752-43ED-417D-9588-0B46492D42AA}"/>
              </a:ext>
            </a:extLst>
          </p:cNvPr>
          <p:cNvSpPr>
            <a:spLocks xmlns:a="http://schemas.openxmlformats.org/drawingml/2006/main" noGrp="1"/>
          </p:cNvSpPr>
          <p:nvPr/>
        </p:nvSpPr>
        <p:spPr>
          <a:xfrm xmlns:a="http://schemas.openxmlformats.org/drawingml/2006/main">
            <a:off x="590550" y="1438275"/>
            <a:ext cx="110109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F842B3E4-3E09-4188-8971-4BA8F92635A5}"/>
              </a:ext>
            </a:extLst>
          </p:cNvPr>
          <p:cNvSpPr>
            <a:spLocks xmlns:a="http://schemas.openxmlformats.org/drawingml/2006/main" noGrp="1"/>
          </p:cNvSpPr>
          <p:nvPr/>
        </p:nvSpPr>
        <p:spPr>
          <a:xfrm xmlns:a="http://schemas.openxmlformats.org/drawingml/2006/main">
            <a:off x="9867900" y="809625"/>
            <a:ext cx="1428750" cy="285750"/>
          </a:xfrm>
          <a:prstGeom xmlns:a="http://schemas.openxmlformats.org/drawingml/2006/main" prst="roundRect">
            <a:avLst>
              <a:gd name="adj" fmla="val 50000"/>
            </a:avLst>
          </a:prstGeom>
          <a:solidFill xmlns:a="http://schemas.openxmlformats.org/drawingml/2006/main">
            <a:srgbClr val="FDECEE"/>
          </a:solidFill>
          <a:ln xmlns:a="http://schemas.openxmlformats.org/drawingml/2006/main" w="9525">
            <a:solidFill>
              <a:srgbClr val="FDECEE"/>
            </a:solidFill>
            <a:prstDash val="solid"/>
          </a:ln>
        </p:spPr>
      </p:sp>
      <p:sp>
        <p:nvSpPr>
          <p:cNvPr id="6" name="">
            <a:extLst xmlns:a="http://schemas.openxmlformats.org/drawingml/2006/main">
              <a:ext uri="{FF2B5EF4-FFF2-40B4-BE49-F238E27FC236}">
                <a16:creationId xmlns:a16="http://schemas.microsoft.com/office/drawing/2014/main" id="{F3B15218-CADF-4CF4-8F6F-A83CD628BCA9}"/>
              </a:ext>
            </a:extLst>
          </p:cNvPr>
          <p:cNvSpPr>
            <a:spLocks xmlns:a="http://schemas.openxmlformats.org/drawingml/2006/main" noGrp="1"/>
          </p:cNvSpPr>
          <p:nvPr/>
        </p:nvSpPr>
        <p:spPr>
          <a:xfrm xmlns:a="http://schemas.openxmlformats.org/drawingml/2006/main">
            <a:off x="9944100" y="847725"/>
            <a:ext cx="1276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E05A63"/>
                </a:solidFill>
                <a:latin typeface="Aptos"/>
                <a:ea typeface="Aptos"/>
                <a:cs typeface="Aptos"/>
              </a:defRPr>
            </a:pPr>
            <a:r>
              <a:rPr sz="975" b="1">
                <a:solidFill>
                  <a:srgbClr val="E05A63"/>
                </a:solidFill>
                <a:latin typeface="Aptos"/>
                <a:ea typeface="Aptos"/>
                <a:cs typeface="Aptos"/>
              </a:rPr>
              <a:t>1 / 3 PASS</a:t>
            </a:r>
          </a:p>
        </p:txBody>
      </p:sp>
      <p:sp>
        <p:nvSpPr>
          <p:cNvPr id="7" name="">
            <a:extLst xmlns:a="http://schemas.openxmlformats.org/drawingml/2006/main">
              <a:ext uri="{FF2B5EF4-FFF2-40B4-BE49-F238E27FC236}">
                <a16:creationId xmlns:a16="http://schemas.microsoft.com/office/drawing/2014/main" id="{F18C422A-43A9-4D39-8B84-E2CFE9C54F89}"/>
              </a:ext>
            </a:extLst>
          </p:cNvPr>
          <p:cNvSpPr>
            <a:spLocks xmlns:a="http://schemas.openxmlformats.org/drawingml/2006/main" noGrp="1"/>
          </p:cNvSpPr>
          <p:nvPr/>
        </p:nvSpPr>
        <p:spPr>
          <a:xfrm xmlns:a="http://schemas.openxmlformats.org/drawingml/2006/main">
            <a:off x="590550" y="17526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6324F"/>
                </a:solidFill>
                <a:latin typeface="Aptos"/>
                <a:ea typeface="Aptos"/>
                <a:cs typeface="Aptos"/>
              </a:defRPr>
            </a:pPr>
            <a:r>
              <a:rPr sz="1275" b="1">
                <a:solidFill>
                  <a:srgbClr val="16324F"/>
                </a:solidFill>
                <a:latin typeface="Aptos"/>
                <a:ea typeface="Aptos"/>
                <a:cs typeface="Aptos"/>
              </a:rPr>
              <a:t>Distractor-KL ratio  (Online / Uniform)</a:t>
            </a:r>
          </a:p>
        </p:txBody>
      </p:sp>
      <p:sp>
        <p:nvSpPr>
          <p:cNvPr id="8" name="">
            <a:extLst xmlns:a="http://schemas.openxmlformats.org/drawingml/2006/main">
              <a:ext uri="{FF2B5EF4-FFF2-40B4-BE49-F238E27FC236}">
                <a16:creationId xmlns:a16="http://schemas.microsoft.com/office/drawing/2014/main" id="{AEDAA347-FB69-4C3C-98FF-36738B3E2E27}"/>
              </a:ext>
            </a:extLst>
          </p:cNvPr>
          <p:cNvSpPr>
            <a:spLocks xmlns:a="http://schemas.openxmlformats.org/drawingml/2006/main" noGrp="1"/>
          </p:cNvSpPr>
          <p:nvPr/>
        </p:nvSpPr>
        <p:spPr>
          <a:xfrm xmlns:a="http://schemas.openxmlformats.org/drawingml/2006/main">
            <a:off x="590550" y="2486025"/>
            <a:ext cx="971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1">
                <a:solidFill>
                  <a:srgbClr val="5C677D"/>
                </a:solidFill>
                <a:latin typeface="Aptos"/>
                <a:ea typeface="Aptos"/>
                <a:cs typeface="Aptos"/>
              </a:defRPr>
            </a:pPr>
            <a:r>
              <a:rPr sz="1125" b="1">
                <a:solidFill>
                  <a:srgbClr val="5C677D"/>
                </a:solidFill>
                <a:latin typeface="Aptos"/>
                <a:ea typeface="Aptos"/>
                <a:cs typeface="Aptos"/>
              </a:rPr>
              <a:t>Separable</a:t>
            </a:r>
          </a:p>
        </p:txBody>
      </p:sp>
      <p:sp>
        <p:nvSpPr>
          <p:cNvPr id="9" name="">
            <a:extLst xmlns:a="http://schemas.openxmlformats.org/drawingml/2006/main">
              <a:ext uri="{FF2B5EF4-FFF2-40B4-BE49-F238E27FC236}">
                <a16:creationId xmlns:a16="http://schemas.microsoft.com/office/drawing/2014/main" id="{2C9AF48F-0F18-4DFB-B6C1-09B5E5BEBF64}"/>
              </a:ext>
            </a:extLst>
          </p:cNvPr>
          <p:cNvSpPr>
            <a:spLocks xmlns:a="http://schemas.openxmlformats.org/drawingml/2006/main" noGrp="1"/>
          </p:cNvSpPr>
          <p:nvPr/>
        </p:nvSpPr>
        <p:spPr>
          <a:xfrm xmlns:a="http://schemas.openxmlformats.org/drawingml/2006/main">
            <a:off x="1657350" y="2381250"/>
            <a:ext cx="4095750" cy="457200"/>
          </a:xfrm>
          <a:prstGeom xmlns:a="http://schemas.openxmlformats.org/drawingml/2006/main" prst="roundRect">
            <a:avLst>
              <a:gd name="adj" fmla="val 50000"/>
            </a:avLst>
          </a:prstGeom>
          <a:solidFill xmlns:a="http://schemas.openxmlformats.org/drawingml/2006/main">
            <a:srgbClr val="E8EDF4"/>
          </a:solidFill>
          <a:ln xmlns:a="http://schemas.openxmlformats.org/drawingml/2006/main" w="9525">
            <a:solidFill>
              <a:srgbClr val="E8EDF4"/>
            </a:solidFill>
            <a:prstDash val="solid"/>
          </a:ln>
        </p:spPr>
      </p:sp>
      <p:sp>
        <p:nvSpPr>
          <p:cNvPr id="10" name="">
            <a:extLst xmlns:a="http://schemas.openxmlformats.org/drawingml/2006/main">
              <a:ext uri="{FF2B5EF4-FFF2-40B4-BE49-F238E27FC236}">
                <a16:creationId xmlns:a16="http://schemas.microsoft.com/office/drawing/2014/main" id="{582F0691-06B1-4640-A3F6-A3060ED8681D}"/>
              </a:ext>
            </a:extLst>
          </p:cNvPr>
          <p:cNvSpPr>
            <a:spLocks xmlns:a="http://schemas.openxmlformats.org/drawingml/2006/main" noGrp="1"/>
          </p:cNvSpPr>
          <p:nvPr/>
        </p:nvSpPr>
        <p:spPr>
          <a:xfrm xmlns:a="http://schemas.openxmlformats.org/drawingml/2006/main">
            <a:off x="1657350" y="2381250"/>
            <a:ext cx="632384" cy="457200"/>
          </a:xfrm>
          <a:prstGeom xmlns:a="http://schemas.openxmlformats.org/drawingml/2006/main" prst="roundRect">
            <a:avLst>
              <a:gd name="adj" fmla="val 50000"/>
            </a:avLst>
          </a:prstGeom>
          <a:solidFill xmlns:a="http://schemas.openxmlformats.org/drawingml/2006/main">
            <a:srgbClr val="20BFA9"/>
          </a:solidFill>
          <a:ln xmlns:a="http://schemas.openxmlformats.org/drawingml/2006/main" w="9525">
            <a:solidFill>
              <a:srgbClr val="20BFA9"/>
            </a:solidFill>
            <a:prstDash val="solid"/>
          </a:ln>
        </p:spPr>
      </p:sp>
      <p:sp>
        <p:nvSpPr>
          <p:cNvPr id="11" name="">
            <a:extLst xmlns:a="http://schemas.openxmlformats.org/drawingml/2006/main">
              <a:ext uri="{FF2B5EF4-FFF2-40B4-BE49-F238E27FC236}">
                <a16:creationId xmlns:a16="http://schemas.microsoft.com/office/drawing/2014/main" id="{83642B1E-A178-4AA2-89E0-F043B566B578}"/>
              </a:ext>
            </a:extLst>
          </p:cNvPr>
          <p:cNvSpPr>
            <a:spLocks xmlns:a="http://schemas.openxmlformats.org/drawingml/2006/main" noGrp="1"/>
          </p:cNvSpPr>
          <p:nvPr/>
        </p:nvSpPr>
        <p:spPr>
          <a:xfrm xmlns:a="http://schemas.openxmlformats.org/drawingml/2006/main">
            <a:off x="1771650" y="2486025"/>
            <a:ext cx="3867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275" b="1">
                <a:solidFill>
                  <a:srgbClr val="FFFFFF"/>
                </a:solidFill>
                <a:latin typeface="Aptos"/>
                <a:ea typeface="Aptos"/>
                <a:cs typeface="Aptos"/>
              </a:defRPr>
            </a:pPr>
            <a:r>
              <a:rPr sz="1275" b="1">
                <a:solidFill>
                  <a:srgbClr val="FFFFFF"/>
                </a:solidFill>
                <a:latin typeface="Aptos"/>
                <a:ea typeface="Aptos"/>
                <a:cs typeface="Aptos"/>
              </a:rPr>
              <a:t>0.193</a:t>
            </a:r>
          </a:p>
        </p:txBody>
      </p:sp>
      <p:sp>
        <p:nvSpPr>
          <p:cNvPr id="12" name="">
            <a:extLst xmlns:a="http://schemas.openxmlformats.org/drawingml/2006/main">
              <a:ext uri="{FF2B5EF4-FFF2-40B4-BE49-F238E27FC236}">
                <a16:creationId xmlns:a16="http://schemas.microsoft.com/office/drawing/2014/main" id="{76555650-3935-4ABF-A45B-C75251C2DBEF}"/>
              </a:ext>
            </a:extLst>
          </p:cNvPr>
          <p:cNvSpPr>
            <a:spLocks xmlns:a="http://schemas.openxmlformats.org/drawingml/2006/main" noGrp="1"/>
          </p:cNvSpPr>
          <p:nvPr/>
        </p:nvSpPr>
        <p:spPr>
          <a:xfrm xmlns:a="http://schemas.openxmlformats.org/drawingml/2006/main">
            <a:off x="590550" y="3419475"/>
            <a:ext cx="971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1">
                <a:solidFill>
                  <a:srgbClr val="5C677D"/>
                </a:solidFill>
                <a:latin typeface="Aptos"/>
                <a:ea typeface="Aptos"/>
                <a:cs typeface="Aptos"/>
              </a:defRPr>
            </a:pPr>
            <a:r>
              <a:rPr sz="1125" b="1">
                <a:solidFill>
                  <a:srgbClr val="5C677D"/>
                </a:solidFill>
                <a:latin typeface="Aptos"/>
                <a:ea typeface="Aptos"/>
                <a:cs typeface="Aptos"/>
              </a:rPr>
              <a:t>Partial alias</a:t>
            </a:r>
          </a:p>
        </p:txBody>
      </p:sp>
      <p:sp>
        <p:nvSpPr>
          <p:cNvPr id="13" name="">
            <a:extLst xmlns:a="http://schemas.openxmlformats.org/drawingml/2006/main">
              <a:ext uri="{FF2B5EF4-FFF2-40B4-BE49-F238E27FC236}">
                <a16:creationId xmlns:a16="http://schemas.microsoft.com/office/drawing/2014/main" id="{1B5F2585-F42C-4B25-AB71-F338F30FF182}"/>
              </a:ext>
            </a:extLst>
          </p:cNvPr>
          <p:cNvSpPr>
            <a:spLocks xmlns:a="http://schemas.openxmlformats.org/drawingml/2006/main" noGrp="1"/>
          </p:cNvSpPr>
          <p:nvPr/>
        </p:nvSpPr>
        <p:spPr>
          <a:xfrm xmlns:a="http://schemas.openxmlformats.org/drawingml/2006/main">
            <a:off x="1657350" y="3314700"/>
            <a:ext cx="4095750" cy="457200"/>
          </a:xfrm>
          <a:prstGeom xmlns:a="http://schemas.openxmlformats.org/drawingml/2006/main" prst="roundRect">
            <a:avLst>
              <a:gd name="adj" fmla="val 50000"/>
            </a:avLst>
          </a:prstGeom>
          <a:solidFill xmlns:a="http://schemas.openxmlformats.org/drawingml/2006/main">
            <a:srgbClr val="E8EDF4"/>
          </a:solidFill>
          <a:ln xmlns:a="http://schemas.openxmlformats.org/drawingml/2006/main" w="9525">
            <a:solidFill>
              <a:srgbClr val="E8EDF4"/>
            </a:solidFill>
            <a:prstDash val="solid"/>
          </a:ln>
        </p:spPr>
      </p:sp>
      <p:sp>
        <p:nvSpPr>
          <p:cNvPr id="14" name="">
            <a:extLst xmlns:a="http://schemas.openxmlformats.org/drawingml/2006/main">
              <a:ext uri="{FF2B5EF4-FFF2-40B4-BE49-F238E27FC236}">
                <a16:creationId xmlns:a16="http://schemas.microsoft.com/office/drawing/2014/main" id="{32757537-4866-427B-8C22-23ABD099F5E9}"/>
              </a:ext>
            </a:extLst>
          </p:cNvPr>
          <p:cNvSpPr>
            <a:spLocks xmlns:a="http://schemas.openxmlformats.org/drawingml/2006/main" noGrp="1"/>
          </p:cNvSpPr>
          <p:nvPr/>
        </p:nvSpPr>
        <p:spPr>
          <a:xfrm xmlns:a="http://schemas.openxmlformats.org/drawingml/2006/main">
            <a:off x="1657350" y="3314700"/>
            <a:ext cx="3168472" cy="457200"/>
          </a:xfrm>
          <a:prstGeom xmlns:a="http://schemas.openxmlformats.org/drawingml/2006/main" prst="roundRect">
            <a:avLst>
              <a:gd name="adj" fmla="val 50000"/>
            </a:avLst>
          </a:prstGeom>
          <a:solidFill xmlns:a="http://schemas.openxmlformats.org/drawingml/2006/main">
            <a:srgbClr val="F0B35A"/>
          </a:solidFill>
          <a:ln xmlns:a="http://schemas.openxmlformats.org/drawingml/2006/main" w="9525">
            <a:solidFill>
              <a:srgbClr val="F0B35A"/>
            </a:solidFill>
            <a:prstDash val="solid"/>
          </a:ln>
        </p:spPr>
      </p:sp>
      <p:sp>
        <p:nvSpPr>
          <p:cNvPr id="15" name="">
            <a:extLst xmlns:a="http://schemas.openxmlformats.org/drawingml/2006/main">
              <a:ext uri="{FF2B5EF4-FFF2-40B4-BE49-F238E27FC236}">
                <a16:creationId xmlns:a16="http://schemas.microsoft.com/office/drawing/2014/main" id="{9B2542D1-7B0D-4466-9CE1-25D29235ECD3}"/>
              </a:ext>
            </a:extLst>
          </p:cNvPr>
          <p:cNvSpPr>
            <a:spLocks xmlns:a="http://schemas.openxmlformats.org/drawingml/2006/main" noGrp="1"/>
          </p:cNvSpPr>
          <p:nvPr/>
        </p:nvSpPr>
        <p:spPr>
          <a:xfrm xmlns:a="http://schemas.openxmlformats.org/drawingml/2006/main">
            <a:off x="1771650" y="3419475"/>
            <a:ext cx="3867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275" b="1">
                <a:solidFill>
                  <a:srgbClr val="0B1020"/>
                </a:solidFill>
                <a:latin typeface="Aptos"/>
                <a:ea typeface="Aptos"/>
                <a:cs typeface="Aptos"/>
              </a:defRPr>
            </a:pPr>
            <a:r>
              <a:rPr sz="1275" b="1">
                <a:solidFill>
                  <a:srgbClr val="0B1020"/>
                </a:solidFill>
                <a:latin typeface="Aptos"/>
                <a:ea typeface="Aptos"/>
                <a:cs typeface="Aptos"/>
              </a:rPr>
              <a:t>0.967</a:t>
            </a:r>
          </a:p>
        </p:txBody>
      </p:sp>
      <p:sp>
        <p:nvSpPr>
          <p:cNvPr id="16" name="">
            <a:extLst xmlns:a="http://schemas.openxmlformats.org/drawingml/2006/main">
              <a:ext uri="{FF2B5EF4-FFF2-40B4-BE49-F238E27FC236}">
                <a16:creationId xmlns:a16="http://schemas.microsoft.com/office/drawing/2014/main" id="{0CB219B5-23AF-44B3-A523-A4533ADDABD8}"/>
              </a:ext>
            </a:extLst>
          </p:cNvPr>
          <p:cNvSpPr>
            <a:spLocks xmlns:a="http://schemas.openxmlformats.org/drawingml/2006/main" noGrp="1"/>
          </p:cNvSpPr>
          <p:nvPr/>
        </p:nvSpPr>
        <p:spPr>
          <a:xfrm xmlns:a="http://schemas.openxmlformats.org/drawingml/2006/main">
            <a:off x="590550" y="4352925"/>
            <a:ext cx="971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1">
                <a:solidFill>
                  <a:srgbClr val="5C677D"/>
                </a:solidFill>
                <a:latin typeface="Aptos"/>
                <a:ea typeface="Aptos"/>
                <a:cs typeface="Aptos"/>
              </a:defRPr>
            </a:pPr>
            <a:r>
              <a:rPr sz="1125" b="1">
                <a:solidFill>
                  <a:srgbClr val="5C677D"/>
                </a:solidFill>
                <a:latin typeface="Aptos"/>
                <a:ea typeface="Aptos"/>
                <a:cs typeface="Aptos"/>
              </a:rPr>
              <a:t>Complete alias</a:t>
            </a:r>
          </a:p>
        </p:txBody>
      </p:sp>
      <p:sp>
        <p:nvSpPr>
          <p:cNvPr id="17" name="">
            <a:extLst xmlns:a="http://schemas.openxmlformats.org/drawingml/2006/main">
              <a:ext uri="{FF2B5EF4-FFF2-40B4-BE49-F238E27FC236}">
                <a16:creationId xmlns:a16="http://schemas.microsoft.com/office/drawing/2014/main" id="{45048464-C9F3-460F-A32C-545B559C9073}"/>
              </a:ext>
            </a:extLst>
          </p:cNvPr>
          <p:cNvSpPr>
            <a:spLocks xmlns:a="http://schemas.openxmlformats.org/drawingml/2006/main" noGrp="1"/>
          </p:cNvSpPr>
          <p:nvPr/>
        </p:nvSpPr>
        <p:spPr>
          <a:xfrm xmlns:a="http://schemas.openxmlformats.org/drawingml/2006/main">
            <a:off x="1657350" y="4248150"/>
            <a:ext cx="4095750" cy="457200"/>
          </a:xfrm>
          <a:prstGeom xmlns:a="http://schemas.openxmlformats.org/drawingml/2006/main" prst="roundRect">
            <a:avLst>
              <a:gd name="adj" fmla="val 50000"/>
            </a:avLst>
          </a:prstGeom>
          <a:solidFill xmlns:a="http://schemas.openxmlformats.org/drawingml/2006/main">
            <a:srgbClr val="E8EDF4"/>
          </a:solidFill>
          <a:ln xmlns:a="http://schemas.openxmlformats.org/drawingml/2006/main" w="9525">
            <a:solidFill>
              <a:srgbClr val="E8EDF4"/>
            </a:solidFill>
            <a:prstDash val="solid"/>
          </a:ln>
        </p:spPr>
      </p:sp>
      <p:sp>
        <p:nvSpPr>
          <p:cNvPr id="18" name="">
            <a:extLst xmlns:a="http://schemas.openxmlformats.org/drawingml/2006/main">
              <a:ext uri="{FF2B5EF4-FFF2-40B4-BE49-F238E27FC236}">
                <a16:creationId xmlns:a16="http://schemas.microsoft.com/office/drawing/2014/main" id="{93AB8C1A-CBFE-4083-A572-F10A12E4BAAD}"/>
              </a:ext>
            </a:extLst>
          </p:cNvPr>
          <p:cNvSpPr>
            <a:spLocks xmlns:a="http://schemas.openxmlformats.org/drawingml/2006/main" noGrp="1"/>
          </p:cNvSpPr>
          <p:nvPr/>
        </p:nvSpPr>
        <p:spPr>
          <a:xfrm xmlns:a="http://schemas.openxmlformats.org/drawingml/2006/main">
            <a:off x="1657350" y="4248150"/>
            <a:ext cx="3853282" cy="457200"/>
          </a:xfrm>
          <a:prstGeom xmlns:a="http://schemas.openxmlformats.org/drawingml/2006/main" prst="roundRect">
            <a:avLst>
              <a:gd name="adj" fmla="val 50000"/>
            </a:avLst>
          </a:prstGeom>
          <a:solidFill xmlns:a="http://schemas.openxmlformats.org/drawingml/2006/main">
            <a:srgbClr val="E05A63"/>
          </a:solidFill>
          <a:ln xmlns:a="http://schemas.openxmlformats.org/drawingml/2006/main" w="9525">
            <a:solidFill>
              <a:srgbClr val="E05A63"/>
            </a:solidFill>
            <a:prstDash val="solid"/>
          </a:ln>
        </p:spPr>
      </p:sp>
      <p:sp>
        <p:nvSpPr>
          <p:cNvPr id="19" name="">
            <a:extLst xmlns:a="http://schemas.openxmlformats.org/drawingml/2006/main">
              <a:ext uri="{FF2B5EF4-FFF2-40B4-BE49-F238E27FC236}">
                <a16:creationId xmlns:a16="http://schemas.microsoft.com/office/drawing/2014/main" id="{E3803BAF-A347-4AE1-9923-BBE21450F629}"/>
              </a:ext>
            </a:extLst>
          </p:cNvPr>
          <p:cNvSpPr>
            <a:spLocks xmlns:a="http://schemas.openxmlformats.org/drawingml/2006/main" noGrp="1"/>
          </p:cNvSpPr>
          <p:nvPr/>
        </p:nvSpPr>
        <p:spPr>
          <a:xfrm xmlns:a="http://schemas.openxmlformats.org/drawingml/2006/main">
            <a:off x="1771650" y="4352925"/>
            <a:ext cx="3867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275" b="1">
                <a:solidFill>
                  <a:srgbClr val="0B1020"/>
                </a:solidFill>
                <a:latin typeface="Aptos"/>
                <a:ea typeface="Aptos"/>
                <a:cs typeface="Aptos"/>
              </a:defRPr>
            </a:pPr>
            <a:r>
              <a:rPr sz="1275" b="1">
                <a:solidFill>
                  <a:srgbClr val="0B1020"/>
                </a:solidFill>
                <a:latin typeface="Aptos"/>
                <a:ea typeface="Aptos"/>
                <a:cs typeface="Aptos"/>
              </a:rPr>
              <a:t>1.176</a:t>
            </a:r>
          </a:p>
        </p:txBody>
      </p:sp>
      <p:sp>
        <p:nvSpPr>
          <p:cNvPr id="20" name="">
            <a:extLst xmlns:a="http://schemas.openxmlformats.org/drawingml/2006/main">
              <a:ext uri="{FF2B5EF4-FFF2-40B4-BE49-F238E27FC236}">
                <a16:creationId xmlns:a16="http://schemas.microsoft.com/office/drawing/2014/main" id="{A1B4C5BA-83CC-4FB1-8F04-042FE020A11C}"/>
              </a:ext>
            </a:extLst>
          </p:cNvPr>
          <p:cNvSpPr>
            <a:spLocks xmlns:a="http://schemas.openxmlformats.org/drawingml/2006/main" noGrp="1"/>
          </p:cNvSpPr>
          <p:nvPr/>
        </p:nvSpPr>
        <p:spPr>
          <a:xfrm xmlns:a="http://schemas.openxmlformats.org/drawingml/2006/main">
            <a:off x="4114800" y="2143125"/>
            <a:ext cx="0" cy="2638425"/>
          </a:xfrm>
          <a:prstGeom xmlns:a="http://schemas.openxmlformats.org/drawingml/2006/main" prst="line">
            <a:avLst/>
          </a:prstGeom>
          <a:noFill xmlns:a="http://schemas.openxmlformats.org/drawingml/2006/main"/>
          <a:ln xmlns:a="http://schemas.openxmlformats.org/drawingml/2006/main" w="19050">
            <a:solidFill>
              <a:srgbClr val="16324F"/>
            </a:solidFill>
            <a:prstDash val="dash"/>
          </a:ln>
        </p:spPr>
      </p:sp>
      <p:sp>
        <p:nvSpPr>
          <p:cNvPr id="21" name="">
            <a:extLst xmlns:a="http://schemas.openxmlformats.org/drawingml/2006/main">
              <a:ext uri="{FF2B5EF4-FFF2-40B4-BE49-F238E27FC236}">
                <a16:creationId xmlns:a16="http://schemas.microsoft.com/office/drawing/2014/main" id="{552F181B-EF46-4DE7-BA47-7B2A3653678D}"/>
              </a:ext>
            </a:extLst>
          </p:cNvPr>
          <p:cNvSpPr>
            <a:spLocks xmlns:a="http://schemas.openxmlformats.org/drawingml/2006/main" noGrp="1"/>
          </p:cNvSpPr>
          <p:nvPr/>
        </p:nvSpPr>
        <p:spPr>
          <a:xfrm xmlns:a="http://schemas.openxmlformats.org/drawingml/2006/main">
            <a:off x="3314700" y="1981200"/>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25" b="1">
                <a:solidFill>
                  <a:srgbClr val="16324F"/>
                </a:solidFill>
                <a:latin typeface="Aptos"/>
                <a:ea typeface="Aptos"/>
                <a:cs typeface="Aptos"/>
              </a:defRPr>
            </a:pPr>
            <a:r>
              <a:rPr sz="825" b="1">
                <a:solidFill>
                  <a:srgbClr val="16324F"/>
                </a:solidFill>
                <a:latin typeface="Aptos"/>
                <a:ea typeface="Aptos"/>
                <a:cs typeface="Aptos"/>
              </a:rPr>
              <a:t>frozen pass limit 0.75</a:t>
            </a:r>
          </a:p>
        </p:txBody>
      </p:sp>
      <p:sp>
        <p:nvSpPr>
          <p:cNvPr id="22" name="">
            <a:extLst xmlns:a="http://schemas.openxmlformats.org/drawingml/2006/main">
              <a:ext uri="{FF2B5EF4-FFF2-40B4-BE49-F238E27FC236}">
                <a16:creationId xmlns:a16="http://schemas.microsoft.com/office/drawing/2014/main" id="{89A6F896-77E8-4335-BE71-A7388522F4CB}"/>
              </a:ext>
            </a:extLst>
          </p:cNvPr>
          <p:cNvSpPr>
            <a:spLocks xmlns:a="http://schemas.openxmlformats.org/drawingml/2006/main" noGrp="1"/>
          </p:cNvSpPr>
          <p:nvPr/>
        </p:nvSpPr>
        <p:spPr>
          <a:xfrm xmlns:a="http://schemas.openxmlformats.org/drawingml/2006/main">
            <a:off x="590550" y="5048250"/>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E05A63"/>
                </a:solidFill>
                <a:latin typeface="Aptos"/>
                <a:ea typeface="Aptos"/>
                <a:cs typeface="Aptos"/>
              </a:defRPr>
            </a:pPr>
            <a:r>
              <a:rPr sz="1350" b="1">
                <a:solidFill>
                  <a:srgbClr val="E05A63"/>
                </a:solidFill>
                <a:latin typeface="Aptos"/>
                <a:ea typeface="Aptos"/>
                <a:cs typeface="Aptos"/>
              </a:rPr>
              <a:t>AUC conditions passed in all 3; failure came entirely from coupled distractor KL.</a:t>
            </a:r>
          </a:p>
        </p:txBody>
      </p:sp>
      <p:sp>
        <p:nvSpPr>
          <p:cNvPr id="23" name="">
            <a:extLst xmlns:a="http://schemas.openxmlformats.org/drawingml/2006/main">
              <a:ext uri="{FF2B5EF4-FFF2-40B4-BE49-F238E27FC236}">
                <a16:creationId xmlns:a16="http://schemas.microsoft.com/office/drawing/2014/main" id="{FAA9F6EC-E3B6-473A-939D-DDC3FE2A22E6}"/>
              </a:ext>
            </a:extLst>
          </p:cNvPr>
          <p:cNvSpPr>
            <a:spLocks xmlns:a="http://schemas.openxmlformats.org/drawingml/2006/main" noGrp="1"/>
          </p:cNvSpPr>
          <p:nvPr/>
        </p:nvSpPr>
        <p:spPr>
          <a:xfrm xmlns:a="http://schemas.openxmlformats.org/drawingml/2006/main">
            <a:off x="6496050" y="1752600"/>
            <a:ext cx="510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6324F"/>
                </a:solidFill>
                <a:latin typeface="Aptos"/>
                <a:ea typeface="Aptos"/>
                <a:cs typeface="Aptos"/>
              </a:defRPr>
            </a:pPr>
            <a:r>
              <a:rPr sz="1350" b="1">
                <a:solidFill>
                  <a:srgbClr val="16324F"/>
                </a:solidFill>
                <a:latin typeface="Aptos"/>
                <a:ea typeface="Aptos"/>
                <a:cs typeface="Aptos"/>
              </a:rPr>
              <a:t>Questions for the professor</a:t>
            </a:r>
          </a:p>
        </p:txBody>
      </p:sp>
      <p:sp>
        <p:nvSpPr>
          <p:cNvPr id="24" name="">
            <a:extLst xmlns:a="http://schemas.openxmlformats.org/drawingml/2006/main">
              <a:ext uri="{FF2B5EF4-FFF2-40B4-BE49-F238E27FC236}">
                <a16:creationId xmlns:a16="http://schemas.microsoft.com/office/drawing/2014/main" id="{FB61A981-7519-4B56-8123-4F671C95C4C2}"/>
              </a:ext>
            </a:extLst>
          </p:cNvPr>
          <p:cNvSpPr>
            <a:spLocks xmlns:a="http://schemas.openxmlformats.org/drawingml/2006/main" noGrp="1"/>
          </p:cNvSpPr>
          <p:nvPr/>
        </p:nvSpPr>
        <p:spPr>
          <a:xfrm xmlns:a="http://schemas.openxmlformats.org/drawingml/2006/main">
            <a:off x="6496050" y="2190750"/>
            <a:ext cx="510540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9525">
            <a:solidFill>
              <a:srgbClr val="D9E0EA"/>
            </a:solidFill>
            <a:prstDash val="solid"/>
          </a:ln>
        </p:spPr>
      </p:sp>
      <p:sp>
        <p:nvSpPr>
          <p:cNvPr id="25" name="">
            <a:extLst xmlns:a="http://schemas.openxmlformats.org/drawingml/2006/main">
              <a:ext uri="{FF2B5EF4-FFF2-40B4-BE49-F238E27FC236}">
                <a16:creationId xmlns:a16="http://schemas.microsoft.com/office/drawing/2014/main" id="{C11A0B8E-1A9B-4E64-A929-2B3CF53EAC51}"/>
              </a:ext>
            </a:extLst>
          </p:cNvPr>
          <p:cNvSpPr>
            <a:spLocks xmlns:a="http://schemas.openxmlformats.org/drawingml/2006/main" noGrp="1"/>
          </p:cNvSpPr>
          <p:nvPr/>
        </p:nvSpPr>
        <p:spPr>
          <a:xfrm xmlns:a="http://schemas.openxmlformats.org/drawingml/2006/main">
            <a:off x="6705600" y="2400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087F72"/>
                </a:solidFill>
                <a:latin typeface="Aptos"/>
                <a:ea typeface="Aptos"/>
                <a:cs typeface="Aptos"/>
              </a:defRPr>
            </a:pPr>
            <a:r>
              <a:rPr sz="1500" b="1">
                <a:solidFill>
                  <a:srgbClr val="087F72"/>
                </a:solidFill>
                <a:latin typeface="Aptos"/>
                <a:ea typeface="Aptos"/>
                <a:cs typeface="Aptos"/>
              </a:rPr>
              <a:t>01</a:t>
            </a:r>
          </a:p>
        </p:txBody>
      </p:sp>
      <p:sp>
        <p:nvSpPr>
          <p:cNvPr id="26" name="">
            <a:extLst xmlns:a="http://schemas.openxmlformats.org/drawingml/2006/main">
              <a:ext uri="{FF2B5EF4-FFF2-40B4-BE49-F238E27FC236}">
                <a16:creationId xmlns:a16="http://schemas.microsoft.com/office/drawing/2014/main" id="{8C412D11-9870-4A60-B708-41357ECC2A73}"/>
              </a:ext>
            </a:extLst>
          </p:cNvPr>
          <p:cNvSpPr>
            <a:spLocks xmlns:a="http://schemas.openxmlformats.org/drawingml/2006/main" noGrp="1"/>
          </p:cNvSpPr>
          <p:nvPr/>
        </p:nvSpPr>
        <p:spPr>
          <a:xfrm xmlns:a="http://schemas.openxmlformats.org/drawingml/2006/main">
            <a:off x="7277100" y="23241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B95A8"/>
                </a:solidFill>
                <a:latin typeface="Aptos"/>
                <a:ea typeface="Aptos"/>
                <a:cs typeface="Aptos"/>
              </a:defRPr>
            </a:pPr>
            <a:r>
              <a:rPr sz="975" b="1">
                <a:solidFill>
                  <a:srgbClr val="8B95A8"/>
                </a:solidFill>
                <a:latin typeface="Aptos"/>
                <a:ea typeface="Aptos"/>
                <a:cs typeface="Aptos"/>
              </a:rPr>
              <a:t>GEOMETRY</a:t>
            </a:r>
          </a:p>
        </p:txBody>
      </p:sp>
      <p:sp>
        <p:nvSpPr>
          <p:cNvPr id="27" name="">
            <a:extLst xmlns:a="http://schemas.openxmlformats.org/drawingml/2006/main">
              <a:ext uri="{FF2B5EF4-FFF2-40B4-BE49-F238E27FC236}">
                <a16:creationId xmlns:a16="http://schemas.microsoft.com/office/drawing/2014/main" id="{2009732A-1510-41D1-8580-8EC38D7AE96E}"/>
              </a:ext>
            </a:extLst>
          </p:cNvPr>
          <p:cNvSpPr>
            <a:spLocks xmlns:a="http://schemas.openxmlformats.org/drawingml/2006/main" noGrp="1"/>
          </p:cNvSpPr>
          <p:nvPr/>
        </p:nvSpPr>
        <p:spPr>
          <a:xfrm xmlns:a="http://schemas.openxmlformats.org/drawingml/2006/main">
            <a:off x="7277100" y="25908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0B1020"/>
                </a:solidFill>
                <a:latin typeface="Aptos"/>
                <a:ea typeface="Aptos"/>
                <a:cs typeface="Aptos"/>
              </a:defRPr>
            </a:pPr>
            <a:r>
              <a:rPr sz="1275" b="1">
                <a:solidFill>
                  <a:srgbClr val="0B1020"/>
                </a:solidFill>
                <a:latin typeface="Aptos"/>
                <a:ea typeface="Aptos"/>
                <a:cs typeface="Aptos"/>
              </a:rPr>
              <a:t>Should reliability enter a Fisher / natural-gradient metric?</a:t>
            </a:r>
          </a:p>
        </p:txBody>
      </p:sp>
      <p:sp>
        <p:nvSpPr>
          <p:cNvPr id="28" name="">
            <a:extLst xmlns:a="http://schemas.openxmlformats.org/drawingml/2006/main">
              <a:ext uri="{FF2B5EF4-FFF2-40B4-BE49-F238E27FC236}">
                <a16:creationId xmlns:a16="http://schemas.microsoft.com/office/drawing/2014/main" id="{80AE4348-0ADD-4120-B319-85117228D545}"/>
              </a:ext>
            </a:extLst>
          </p:cNvPr>
          <p:cNvSpPr>
            <a:spLocks xmlns:a="http://schemas.openxmlformats.org/drawingml/2006/main" noGrp="1"/>
          </p:cNvSpPr>
          <p:nvPr/>
        </p:nvSpPr>
        <p:spPr>
          <a:xfrm xmlns:a="http://schemas.openxmlformats.org/drawingml/2006/main">
            <a:off x="6496050" y="3352800"/>
            <a:ext cx="510540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9525">
            <a:solidFill>
              <a:srgbClr val="D9E0EA"/>
            </a:solidFill>
            <a:prstDash val="solid"/>
          </a:ln>
        </p:spPr>
      </p:sp>
      <p:sp>
        <p:nvSpPr>
          <p:cNvPr id="29" name="">
            <a:extLst xmlns:a="http://schemas.openxmlformats.org/drawingml/2006/main">
              <a:ext uri="{FF2B5EF4-FFF2-40B4-BE49-F238E27FC236}">
                <a16:creationId xmlns:a16="http://schemas.microsoft.com/office/drawing/2014/main" id="{C445CE0E-A89D-46F5-B721-CE8F9A5822D2}"/>
              </a:ext>
            </a:extLst>
          </p:cNvPr>
          <p:cNvSpPr>
            <a:spLocks xmlns:a="http://schemas.openxmlformats.org/drawingml/2006/main" noGrp="1"/>
          </p:cNvSpPr>
          <p:nvPr/>
        </p:nvSpPr>
        <p:spPr>
          <a:xfrm xmlns:a="http://schemas.openxmlformats.org/drawingml/2006/main">
            <a:off x="6705600" y="35623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087F72"/>
                </a:solidFill>
                <a:latin typeface="Aptos"/>
                <a:ea typeface="Aptos"/>
                <a:cs typeface="Aptos"/>
              </a:defRPr>
            </a:pPr>
            <a:r>
              <a:rPr sz="1500" b="1">
                <a:solidFill>
                  <a:srgbClr val="087F72"/>
                </a:solidFill>
                <a:latin typeface="Aptos"/>
                <a:ea typeface="Aptos"/>
                <a:cs typeface="Aptos"/>
              </a:rPr>
              <a:t>02</a:t>
            </a:r>
          </a:p>
        </p:txBody>
      </p:sp>
      <p:sp>
        <p:nvSpPr>
          <p:cNvPr id="30" name="">
            <a:extLst xmlns:a="http://schemas.openxmlformats.org/drawingml/2006/main">
              <a:ext uri="{FF2B5EF4-FFF2-40B4-BE49-F238E27FC236}">
                <a16:creationId xmlns:a16="http://schemas.microsoft.com/office/drawing/2014/main" id="{71D08173-0DE2-489B-B34E-A98505EFFA2D}"/>
              </a:ext>
            </a:extLst>
          </p:cNvPr>
          <p:cNvSpPr>
            <a:spLocks xmlns:a="http://schemas.openxmlformats.org/drawingml/2006/main" noGrp="1"/>
          </p:cNvSpPr>
          <p:nvPr/>
        </p:nvSpPr>
        <p:spPr>
          <a:xfrm xmlns:a="http://schemas.openxmlformats.org/drawingml/2006/main">
            <a:off x="7277100" y="34861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B95A8"/>
                </a:solidFill>
                <a:latin typeface="Aptos"/>
                <a:ea typeface="Aptos"/>
                <a:cs typeface="Aptos"/>
              </a:defRPr>
            </a:pPr>
            <a:r>
              <a:rPr sz="975" b="1">
                <a:solidFill>
                  <a:srgbClr val="8B95A8"/>
                </a:solidFill>
                <a:latin typeface="Aptos"/>
                <a:ea typeface="Aptos"/>
                <a:cs typeface="Aptos"/>
              </a:rPr>
              <a:t>PROJECTION</a:t>
            </a:r>
          </a:p>
        </p:txBody>
      </p:sp>
      <p:sp>
        <p:nvSpPr>
          <p:cNvPr id="31" name="">
            <a:extLst xmlns:a="http://schemas.openxmlformats.org/drawingml/2006/main">
              <a:ext uri="{FF2B5EF4-FFF2-40B4-BE49-F238E27FC236}">
                <a16:creationId xmlns:a16="http://schemas.microsoft.com/office/drawing/2014/main" id="{44C34655-D2B7-4063-BC6A-BB1175CEF88A}"/>
              </a:ext>
            </a:extLst>
          </p:cNvPr>
          <p:cNvSpPr>
            <a:spLocks xmlns:a="http://schemas.openxmlformats.org/drawingml/2006/main" noGrp="1"/>
          </p:cNvSpPr>
          <p:nvPr/>
        </p:nvSpPr>
        <p:spPr>
          <a:xfrm xmlns:a="http://schemas.openxmlformats.org/drawingml/2006/main">
            <a:off x="7277100" y="375285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0B1020"/>
                </a:solidFill>
                <a:latin typeface="Aptos"/>
                <a:ea typeface="Aptos"/>
                <a:cs typeface="Aptos"/>
              </a:defRPr>
            </a:pPr>
            <a:r>
              <a:rPr sz="1275" b="1">
                <a:solidFill>
                  <a:srgbClr val="0B1020"/>
                </a:solidFill>
                <a:latin typeface="Aptos"/>
                <a:ea typeface="Aptos"/>
                <a:cs typeface="Aptos"/>
              </a:rPr>
              <a:t>Can we fit pivotal OMD targets while constraining low-reliability KL?</a:t>
            </a:r>
          </a:p>
        </p:txBody>
      </p:sp>
      <p:sp>
        <p:nvSpPr>
          <p:cNvPr id="32" name="">
            <a:extLst xmlns:a="http://schemas.openxmlformats.org/drawingml/2006/main">
              <a:ext uri="{FF2B5EF4-FFF2-40B4-BE49-F238E27FC236}">
                <a16:creationId xmlns:a16="http://schemas.microsoft.com/office/drawing/2014/main" id="{E8F3DE9A-D7B8-4CE3-B390-7FC31AF60906}"/>
              </a:ext>
            </a:extLst>
          </p:cNvPr>
          <p:cNvSpPr>
            <a:spLocks xmlns:a="http://schemas.openxmlformats.org/drawingml/2006/main" noGrp="1"/>
          </p:cNvSpPr>
          <p:nvPr/>
        </p:nvSpPr>
        <p:spPr>
          <a:xfrm xmlns:a="http://schemas.openxmlformats.org/drawingml/2006/main">
            <a:off x="6496050" y="4514850"/>
            <a:ext cx="510540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9525">
            <a:solidFill>
              <a:srgbClr val="D9E0EA"/>
            </a:solidFill>
            <a:prstDash val="solid"/>
          </a:ln>
        </p:spPr>
      </p:sp>
      <p:sp>
        <p:nvSpPr>
          <p:cNvPr id="33" name="">
            <a:extLst xmlns:a="http://schemas.openxmlformats.org/drawingml/2006/main">
              <a:ext uri="{FF2B5EF4-FFF2-40B4-BE49-F238E27FC236}">
                <a16:creationId xmlns:a16="http://schemas.microsoft.com/office/drawing/2014/main" id="{75FF193F-67A4-410C-9E7C-3314410F67C7}"/>
              </a:ext>
            </a:extLst>
          </p:cNvPr>
          <p:cNvSpPr>
            <a:spLocks xmlns:a="http://schemas.openxmlformats.org/drawingml/2006/main" noGrp="1"/>
          </p:cNvSpPr>
          <p:nvPr/>
        </p:nvSpPr>
        <p:spPr>
          <a:xfrm xmlns:a="http://schemas.openxmlformats.org/drawingml/2006/main">
            <a:off x="6705600" y="47244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E05A63"/>
                </a:solidFill>
                <a:latin typeface="Aptos"/>
                <a:ea typeface="Aptos"/>
                <a:cs typeface="Aptos"/>
              </a:defRPr>
            </a:pPr>
            <a:r>
              <a:rPr sz="1500" b="1">
                <a:solidFill>
                  <a:srgbClr val="E05A63"/>
                </a:solidFill>
                <a:latin typeface="Aptos"/>
                <a:ea typeface="Aptos"/>
                <a:cs typeface="Aptos"/>
              </a:rPr>
              <a:t>03</a:t>
            </a:r>
          </a:p>
        </p:txBody>
      </p:sp>
      <p:sp>
        <p:nvSpPr>
          <p:cNvPr id="34" name="">
            <a:extLst xmlns:a="http://schemas.openxmlformats.org/drawingml/2006/main">
              <a:ext uri="{FF2B5EF4-FFF2-40B4-BE49-F238E27FC236}">
                <a16:creationId xmlns:a16="http://schemas.microsoft.com/office/drawing/2014/main" id="{5C5AA6C3-14D4-4C0A-B1AB-9ADD8D81C9F3}"/>
              </a:ext>
            </a:extLst>
          </p:cNvPr>
          <p:cNvSpPr>
            <a:spLocks xmlns:a="http://schemas.openxmlformats.org/drawingml/2006/main" noGrp="1"/>
          </p:cNvSpPr>
          <p:nvPr/>
        </p:nvSpPr>
        <p:spPr>
          <a:xfrm xmlns:a="http://schemas.openxmlformats.org/drawingml/2006/main">
            <a:off x="7277100" y="46482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B95A8"/>
                </a:solidFill>
                <a:latin typeface="Aptos"/>
                <a:ea typeface="Aptos"/>
                <a:cs typeface="Aptos"/>
              </a:defRPr>
            </a:pPr>
            <a:r>
              <a:rPr sz="975" b="1">
                <a:solidFill>
                  <a:srgbClr val="8B95A8"/>
                </a:solidFill>
                <a:latin typeface="Aptos"/>
                <a:ea typeface="Aptos"/>
                <a:cs typeface="Aptos"/>
              </a:rPr>
              <a:t>NEXT TEST</a:t>
            </a:r>
          </a:p>
        </p:txBody>
      </p:sp>
      <p:sp>
        <p:nvSpPr>
          <p:cNvPr id="35" name="">
            <a:extLst xmlns:a="http://schemas.openxmlformats.org/drawingml/2006/main">
              <a:ext uri="{FF2B5EF4-FFF2-40B4-BE49-F238E27FC236}">
                <a16:creationId xmlns:a16="http://schemas.microsoft.com/office/drawing/2014/main" id="{11699617-2C0B-4CC4-8B16-015044743E59}"/>
              </a:ext>
            </a:extLst>
          </p:cNvPr>
          <p:cNvSpPr>
            <a:spLocks xmlns:a="http://schemas.openxmlformats.org/drawingml/2006/main" noGrp="1"/>
          </p:cNvSpPr>
          <p:nvPr/>
        </p:nvSpPr>
        <p:spPr>
          <a:xfrm xmlns:a="http://schemas.openxmlformats.org/drawingml/2006/main">
            <a:off x="7277100" y="49149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0B1020"/>
                </a:solidFill>
                <a:latin typeface="Aptos"/>
                <a:ea typeface="Aptos"/>
                <a:cs typeface="Aptos"/>
              </a:defRPr>
            </a:pPr>
            <a:r>
              <a:rPr sz="1275" b="1">
                <a:solidFill>
                  <a:srgbClr val="0B1020"/>
                </a:solidFill>
                <a:latin typeface="Aptos"/>
                <a:ea typeface="Aptos"/>
                <a:cs typeface="Aptos"/>
              </a:rPr>
              <a:t>Which nonlinear benchmark should precede any neural or LLM claim?</a:t>
            </a:r>
          </a:p>
        </p:txBody>
      </p:sp>
      <p:sp>
        <p:nvSpPr>
          <p:cNvPr id="36" name="">
            <a:extLst xmlns:a="http://schemas.openxmlformats.org/drawingml/2006/main">
              <a:ext uri="{FF2B5EF4-FFF2-40B4-BE49-F238E27FC236}">
                <a16:creationId xmlns:a16="http://schemas.microsoft.com/office/drawing/2014/main" id="{0BDA3BBC-F3D2-47DA-AD9A-9D45D5F8C08B}"/>
              </a:ext>
            </a:extLst>
          </p:cNvPr>
          <p:cNvSpPr>
            <a:spLocks xmlns:a="http://schemas.openxmlformats.org/drawingml/2006/main" noGrp="1"/>
          </p:cNvSpPr>
          <p:nvPr/>
        </p:nvSpPr>
        <p:spPr>
          <a:xfrm xmlns:a="http://schemas.openxmlformats.org/drawingml/2006/main">
            <a:off x="6496050" y="5772150"/>
            <a:ext cx="5105400" cy="438150"/>
          </a:xfrm>
          <a:prstGeom xmlns:a="http://schemas.openxmlformats.org/drawingml/2006/main" prst="roundRect">
            <a:avLst>
              <a:gd name="adj" fmla="val 26087"/>
            </a:avLst>
          </a:prstGeom>
          <a:solidFill xmlns:a="http://schemas.openxmlformats.org/drawingml/2006/main">
            <a:srgbClr val="FDECEE"/>
          </a:solidFill>
          <a:ln xmlns:a="http://schemas.openxmlformats.org/drawingml/2006/main" w="9525">
            <a:solidFill>
              <a:srgbClr val="FDECEE"/>
            </a:solidFill>
            <a:prstDash val="solid"/>
          </a:ln>
        </p:spPr>
      </p:sp>
      <p:sp>
        <p:nvSpPr>
          <p:cNvPr id="37" name="">
            <a:extLst xmlns:a="http://schemas.openxmlformats.org/drawingml/2006/main">
              <a:ext uri="{FF2B5EF4-FFF2-40B4-BE49-F238E27FC236}">
                <a16:creationId xmlns:a16="http://schemas.microsoft.com/office/drawing/2014/main" id="{7FD71C6B-B0CF-4B53-B5CD-8A02C015BE65}"/>
              </a:ext>
            </a:extLst>
          </p:cNvPr>
          <p:cNvSpPr>
            <a:spLocks xmlns:a="http://schemas.openxmlformats.org/drawingml/2006/main" noGrp="1"/>
          </p:cNvSpPr>
          <p:nvPr/>
        </p:nvSpPr>
        <p:spPr>
          <a:xfrm xmlns:a="http://schemas.openxmlformats.org/drawingml/2006/main">
            <a:off x="6667500" y="58769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E05A63"/>
                </a:solidFill>
                <a:latin typeface="Aptos"/>
                <a:ea typeface="Aptos"/>
                <a:cs typeface="Aptos"/>
              </a:defRPr>
            </a:pPr>
            <a:r>
              <a:rPr sz="1200" b="1">
                <a:solidFill>
                  <a:srgbClr val="E05A63"/>
                </a:solidFill>
                <a:latin typeface="Aptos"/>
                <a:ea typeface="Aptos"/>
                <a:cs typeface="Aptos"/>
              </a:rPr>
              <a:t>NO neural-network or LLM effectiveness claim.</a:t>
            </a:r>
          </a:p>
        </p:txBody>
      </p:sp>
      <p:sp>
        <p:nvSpPr>
          <p:cNvPr id="38" name="">
            <a:extLst xmlns:a="http://schemas.openxmlformats.org/drawingml/2006/main">
              <a:ext uri="{FF2B5EF4-FFF2-40B4-BE49-F238E27FC236}">
                <a16:creationId xmlns:a16="http://schemas.microsoft.com/office/drawing/2014/main" id="{5340C0C8-485D-4AC8-9C61-97B2A8F3F31D}"/>
              </a:ext>
            </a:extLst>
          </p:cNvPr>
          <p:cNvSpPr>
            <a:spLocks xmlns:a="http://schemas.openxmlformats.org/drawingml/2006/main" noGrp="1"/>
          </p:cNvSpPr>
          <p:nvPr/>
        </p:nvSpPr>
        <p:spPr>
          <a:xfrm xmlns:a="http://schemas.openxmlformats.org/drawingml/2006/main">
            <a:off x="590550" y="65151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8B95A8"/>
                </a:solidFill>
                <a:latin typeface="Aptos"/>
                <a:ea typeface="Aptos"/>
                <a:cs typeface="Aptos"/>
              </a:defRPr>
            </a:pPr>
            <a:r>
              <a:rPr sz="750" b="1">
                <a:solidFill>
                  <a:srgbClr val="8B95A8"/>
                </a:solidFill>
                <a:latin typeface="Aptos"/>
                <a:ea typeface="Aptos"/>
                <a:cs typeface="Aptos"/>
              </a:rPr>
              <a:t>PRE-REGISTERED PROTOCOL  function-approx-v1-2026-08-09  |  EXECUTION 2c91c69</a:t>
            </a:r>
          </a:p>
        </p:txBody>
      </p:sp>
    </p:spTree>
    <p:extLst>
      <p:ext uri="{BB962C8B-B14F-4D97-AF65-F5344CB8AC3E}">
        <p14:creationId xmlns:p14="http://schemas.microsoft.com/office/powerpoint/2010/main" val="832221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2026-08-09T05:14:43.6910000Z</dcterms:created>
  <dcterms:modified xsi:type="dcterms:W3CDTF">2026-08-09T05:14:43.6910000Z</dcterms:modified>
</coreProperties>
</file>